
<file path=[Content_Types].xml><?xml version="1.0" encoding="utf-8"?>
<Types xmlns="http://schemas.openxmlformats.org/package/2006/content-types">
  <Default Extension="xml" ContentType="application/xml"/>
  <Default Extension="jpeg" ContentType="image/jpeg"/>
  <Default Extension="bin" ContentType="application/vnd.openxmlformats-officedocument.presentationml.printerSettings"/>
  <Default Extension="rels" ContentType="application/vnd.openxmlformats-package.relationships+xml"/>
  <Default Extension="gif" ContentType="image/gif"/>
  <Default Extension="png" ContentType="image/png"/>
  <Default Extension="svg" ContentType="image/svg+xml"/>
  <Default Extension="bmp" ContentType="image/bmp"/>
  <Default Extension="emf" ContentType="image/x-emf"/>
  <Default Extension="wmf" ContentType="image/x-wmf"/>
  <Default Extension="tiff" ContentType="image/tiff"/>
  <Default Extension="pdf" ContentType="application/pdf"/>
  <Default Extension="jpg" ContentType="application/octet-stream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</Types>
</file>

<file path=_rels/.rels><?xml version="1.0" encoding="UTF-8" standalone="yes"?>

<Relationships  xmlns="http://schemas.openxmlformats.org/package/2006/relationships">
<Relationship Id="rId3" Type="http://schemas.openxmlformats.org/package/2006/relationships/metadata/core-properties" Target="docProps/core.xml"/>
<Relationship Id="rId4" Type="http://schemas.openxmlformats.org/officeDocument/2006/relationships/extended-properties" Target="docProps/app.xml"/>
<Relationship Id="rId1" Type="http://schemas.openxmlformats.org/officeDocument/2006/relationships/officeDocument" Target="ppt/presentation.xml"/>
<Relationship Id="rId2" Type="http://schemas.openxmlformats.org/package/2006/relationships/metadata/thumbnail" Target="docProps/thumbnail.jpeg"/>
</Relationships>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8"/>
    <p:sldId id="257" r:id="rId9"/>
    <p:sldId id="258" r:id="rId10"/>
    <p:sldId id="259" r:id="rId11"/>
    <p:sldId id="260" r:id="rId12"/>
    <p:sldId id="261" r:id="rId13"/>
  </p:sldIdLst>
  <p:sldSz cx="9144000" cy="6858000" type="screen4x3"/>
  <p:notesSz cx="6858000" cy="9144000"/>
  <p:custDataLst>
    <p:tags r:id="rId3"/>
  </p:custData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92" d="100"/>
          <a:sy n="92" d="100"/>
        </p:scale>
        <p:origin x="-1376" y="-104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
<Relationships  xmlns="http://schemas.openxmlformats.org/package/2006/relationships">
<Relationship Id="rId3" Type="http://schemas.openxmlformats.org/officeDocument/2006/relationships/tags" Target="tags/tag1.xml"/>
<Relationship Id="rId4" Type="http://schemas.openxmlformats.org/officeDocument/2006/relationships/presProps" Target="presProps.xml"/>
<Relationship Id="rId5" Type="http://schemas.openxmlformats.org/officeDocument/2006/relationships/viewProps" Target="viewProps.xml"/>
<Relationship Id="rId6" Type="http://schemas.openxmlformats.org/officeDocument/2006/relationships/theme" Target="theme/theme1.xml"/>
<Relationship Id="rId7" Type="http://schemas.openxmlformats.org/officeDocument/2006/relationships/tableStyles" Target="tableStyles.xml"/>
<Relationship Id="rId1" Type="http://schemas.openxmlformats.org/officeDocument/2006/relationships/slideMaster" Target="slideMasters/slideMaster1.xml"/>
<Relationship Id="rId2" Type="http://schemas.openxmlformats.org/officeDocument/2006/relationships/printerSettings" Target="printerSettings/printerSettings1.bin"/>
<Relationship Id="rId8" Type="http://schemas.openxmlformats.org/officeDocument/2006/relationships/slide" Target="slides/slide1.xml"/>
<Relationship Id="rId9" Type="http://schemas.openxmlformats.org/officeDocument/2006/relationships/slide" Target="slides/slide2.xml"/>
<Relationship Id="rId10" Type="http://schemas.openxmlformats.org/officeDocument/2006/relationships/slide" Target="slides/slide3.xml"/>
<Relationship Id="rId11" Type="http://schemas.openxmlformats.org/officeDocument/2006/relationships/slide" Target="slides/slide4.xml"/>
<Relationship Id="rId12" Type="http://schemas.openxmlformats.org/officeDocument/2006/relationships/slide" Target="slides/slide5.xml"/>
<Relationship Id="rId13" Type="http://schemas.openxmlformats.org/officeDocument/2006/relationships/slide" Target="slides/slide6.xml"/>
</Relationships>
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21488113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157698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43154558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6839228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12034912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38580797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5599605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0782362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
<Relationships  xmlns="http://schemas.openxmlformats.org/package/2006/relationships">
<Relationship Id="rId1" Type="http://schemas.openxmlformats.org/officeDocument/2006/relationships/slideLayout" Target="../slideLayouts/slideLayout7.xml"/>
</Relationships>

</file>

<file path=ppt/slides/_rels/slide2.xml.rels><?xml version="1.0" encoding="UTF-8" standalone="yes"?>

<Relationships  xmlns="http://schemas.openxmlformats.org/package/2006/relationships">
<Relationship Id="rId1" Type="http://schemas.openxmlformats.org/officeDocument/2006/relationships/slideLayout" Target="../slideLayouts/slideLayout7.xml"/>
</Relationships>

</file>

<file path=ppt/slides/_rels/slide3.xml.rels><?xml version="1.0" encoding="UTF-8" standalone="yes"?>

<Relationships  xmlns="http://schemas.openxmlformats.org/package/2006/relationships">
<Relationship Id="rId1" Type="http://schemas.openxmlformats.org/officeDocument/2006/relationships/slideLayout" Target="../slideLayouts/slideLayout7.xml"/>
</Relationships>

</file>

<file path=ppt/slides/_rels/slide4.xml.rels><?xml version="1.0" encoding="UTF-8" standalone="yes"?>

<Relationships  xmlns="http://schemas.openxmlformats.org/package/2006/relationships">
<Relationship Id="rId1" Type="http://schemas.openxmlformats.org/officeDocument/2006/relationships/slideLayout" Target="../slideLayouts/slideLayout7.xml"/>
</Relationships>

</file>

<file path=ppt/slides/_rels/slide5.xml.rels><?xml version="1.0" encoding="UTF-8" standalone="yes"?>

<Relationships  xmlns="http://schemas.openxmlformats.org/package/2006/relationships">
<Relationship Id="rId1" Type="http://schemas.openxmlformats.org/officeDocument/2006/relationships/slideLayout" Target="../slideLayouts/slideLayout7.xml"/>
</Relationships>

</file>

<file path=ppt/slides/_rels/slide6.xml.rels><?xml version="1.0" encoding="UTF-8" standalone="yes"?>

<Relationships  xmlns="http://schemas.openxmlformats.org/package/2006/relationships">
<Relationship Id="rId1" Type="http://schemas.openxmlformats.org/officeDocument/2006/relationships/slideLayout" Target="../slideLayouts/slideLayout7.xml"/>
</Relationships>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 xmlns:pic="http://schemas.openxmlformats.org/drawingml/2006/picture">
        <p:nvGrpSpPr>
          <p:cNvPr id="2" name=""/>
          <p:cNvGrpSpPr/>
          <p:nvPr/>
        </p:nvGrpSpPr>
        <p:grpSpPr>
          <a:xfrm rot="0">
            <a:off x="0" y="0"/>
            <a:ext cx="9144000" cy="6858000"/>
            <a:chOff x="0" y="0"/>
            <a:chExt cx="9144000" cy="6858000"/>
          </a:xfrm>
        </p:grpSpPr>
        <p:sp>
          <p:nvSpPr>
            <p:cNvPr id="3" name="rc3"/>
            <p:cNvSpPr/>
            <p:nvPr/>
          </p:nvSpPr>
          <p:spPr>
            <a:xfrm>
              <a:off x="0" y="0"/>
              <a:ext cx="9144000" cy="6858000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  <a:ln w="9525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" name="rc4"/>
            <p:cNvSpPr/>
            <p:nvPr/>
          </p:nvSpPr>
          <p:spPr>
            <a:xfrm>
              <a:off x="0" y="0"/>
              <a:ext cx="9144000" cy="6858000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5" name="pl5"/>
            <p:cNvSpPr/>
            <p:nvPr/>
          </p:nvSpPr>
          <p:spPr>
            <a:xfrm>
              <a:off x="628241" y="5086440"/>
              <a:ext cx="8439843" cy="0"/>
            </a:xfrm>
            <a:custGeom>
              <a:avLst/>
              <a:pathLst>
                <a:path w="8439843" h="0">
                  <a:moveTo>
                    <a:pt x="0" y="0"/>
                  </a:moveTo>
                  <a:lnTo>
                    <a:pt x="8439843" y="0"/>
                  </a:lnTo>
                  <a:lnTo>
                    <a:pt x="8439843" y="0"/>
                  </a:lnTo>
                </a:path>
              </a:pathLst>
            </a:custGeom>
            <a:ln w="7391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" name="pl6"/>
            <p:cNvSpPr/>
            <p:nvPr/>
          </p:nvSpPr>
          <p:spPr>
            <a:xfrm>
              <a:off x="628241" y="3197307"/>
              <a:ext cx="8439843" cy="0"/>
            </a:xfrm>
            <a:custGeom>
              <a:avLst/>
              <a:pathLst>
                <a:path w="8439843" h="0">
                  <a:moveTo>
                    <a:pt x="0" y="0"/>
                  </a:moveTo>
                  <a:lnTo>
                    <a:pt x="8439843" y="0"/>
                  </a:lnTo>
                  <a:lnTo>
                    <a:pt x="8439843" y="0"/>
                  </a:lnTo>
                </a:path>
              </a:pathLst>
            </a:custGeom>
            <a:ln w="7391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" name="pl7"/>
            <p:cNvSpPr/>
            <p:nvPr/>
          </p:nvSpPr>
          <p:spPr>
            <a:xfrm>
              <a:off x="628241" y="1308173"/>
              <a:ext cx="8439843" cy="0"/>
            </a:xfrm>
            <a:custGeom>
              <a:avLst/>
              <a:pathLst>
                <a:path w="8439843" h="0">
                  <a:moveTo>
                    <a:pt x="0" y="0"/>
                  </a:moveTo>
                  <a:lnTo>
                    <a:pt x="8439843" y="0"/>
                  </a:lnTo>
                  <a:lnTo>
                    <a:pt x="8439843" y="0"/>
                  </a:lnTo>
                </a:path>
              </a:pathLst>
            </a:custGeom>
            <a:ln w="7391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" name="pl8"/>
            <p:cNvSpPr/>
            <p:nvPr/>
          </p:nvSpPr>
          <p:spPr>
            <a:xfrm>
              <a:off x="628241" y="6031006"/>
              <a:ext cx="8439843" cy="0"/>
            </a:xfrm>
            <a:custGeom>
              <a:avLst/>
              <a:pathLst>
                <a:path w="8439843" h="0">
                  <a:moveTo>
                    <a:pt x="0" y="0"/>
                  </a:moveTo>
                  <a:lnTo>
                    <a:pt x="8439843" y="0"/>
                  </a:lnTo>
                  <a:lnTo>
                    <a:pt x="8439843" y="0"/>
                  </a:lnTo>
                </a:path>
              </a:pathLst>
            </a:custGeom>
            <a:ln w="14782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" name="pl9"/>
            <p:cNvSpPr/>
            <p:nvPr/>
          </p:nvSpPr>
          <p:spPr>
            <a:xfrm>
              <a:off x="628241" y="4141873"/>
              <a:ext cx="8439843" cy="0"/>
            </a:xfrm>
            <a:custGeom>
              <a:avLst/>
              <a:pathLst>
                <a:path w="8439843" h="0">
                  <a:moveTo>
                    <a:pt x="0" y="0"/>
                  </a:moveTo>
                  <a:lnTo>
                    <a:pt x="8439843" y="0"/>
                  </a:lnTo>
                  <a:lnTo>
                    <a:pt x="8439843" y="0"/>
                  </a:lnTo>
                </a:path>
              </a:pathLst>
            </a:custGeom>
            <a:ln w="14782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" name="pl10"/>
            <p:cNvSpPr/>
            <p:nvPr/>
          </p:nvSpPr>
          <p:spPr>
            <a:xfrm>
              <a:off x="628241" y="2252740"/>
              <a:ext cx="8439843" cy="0"/>
            </a:xfrm>
            <a:custGeom>
              <a:avLst/>
              <a:pathLst>
                <a:path w="8439843" h="0">
                  <a:moveTo>
                    <a:pt x="0" y="0"/>
                  </a:moveTo>
                  <a:lnTo>
                    <a:pt x="8439843" y="0"/>
                  </a:lnTo>
                  <a:lnTo>
                    <a:pt x="8439843" y="0"/>
                  </a:lnTo>
                </a:path>
              </a:pathLst>
            </a:custGeom>
            <a:ln w="14782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" name="pl11"/>
            <p:cNvSpPr/>
            <p:nvPr/>
          </p:nvSpPr>
          <p:spPr>
            <a:xfrm>
              <a:off x="628241" y="363607"/>
              <a:ext cx="8439843" cy="0"/>
            </a:xfrm>
            <a:custGeom>
              <a:avLst/>
              <a:pathLst>
                <a:path w="8439843" h="0">
                  <a:moveTo>
                    <a:pt x="0" y="0"/>
                  </a:moveTo>
                  <a:lnTo>
                    <a:pt x="8439843" y="0"/>
                  </a:lnTo>
                  <a:lnTo>
                    <a:pt x="8439843" y="0"/>
                  </a:lnTo>
                </a:path>
              </a:pathLst>
            </a:custGeom>
            <a:ln w="14782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" name="pl12"/>
            <p:cNvSpPr/>
            <p:nvPr/>
          </p:nvSpPr>
          <p:spPr>
            <a:xfrm>
              <a:off x="1445000" y="75915"/>
              <a:ext cx="0" cy="6329225"/>
            </a:xfrm>
            <a:custGeom>
              <a:avLst/>
              <a:pathLst>
                <a:path w="0" h="6329225">
                  <a:moveTo>
                    <a:pt x="0" y="6329225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4782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" name="pl13"/>
            <p:cNvSpPr/>
            <p:nvPr/>
          </p:nvSpPr>
          <p:spPr>
            <a:xfrm>
              <a:off x="2806265" y="75915"/>
              <a:ext cx="0" cy="6329225"/>
            </a:xfrm>
            <a:custGeom>
              <a:avLst/>
              <a:pathLst>
                <a:path w="0" h="6329225">
                  <a:moveTo>
                    <a:pt x="0" y="6329225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4782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" name="pl14"/>
            <p:cNvSpPr/>
            <p:nvPr/>
          </p:nvSpPr>
          <p:spPr>
            <a:xfrm>
              <a:off x="4167530" y="75915"/>
              <a:ext cx="0" cy="6329225"/>
            </a:xfrm>
            <a:custGeom>
              <a:avLst/>
              <a:pathLst>
                <a:path w="0" h="6329225">
                  <a:moveTo>
                    <a:pt x="0" y="6329225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4782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" name="pl15"/>
            <p:cNvSpPr/>
            <p:nvPr/>
          </p:nvSpPr>
          <p:spPr>
            <a:xfrm>
              <a:off x="5528795" y="75915"/>
              <a:ext cx="0" cy="6329225"/>
            </a:xfrm>
            <a:custGeom>
              <a:avLst/>
              <a:pathLst>
                <a:path w="0" h="6329225">
                  <a:moveTo>
                    <a:pt x="0" y="6329225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4782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" name="pl16"/>
            <p:cNvSpPr/>
            <p:nvPr/>
          </p:nvSpPr>
          <p:spPr>
            <a:xfrm>
              <a:off x="6890060" y="75915"/>
              <a:ext cx="0" cy="6329225"/>
            </a:xfrm>
            <a:custGeom>
              <a:avLst/>
              <a:pathLst>
                <a:path w="0" h="6329225">
                  <a:moveTo>
                    <a:pt x="0" y="6329225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4782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" name="pl17"/>
            <p:cNvSpPr/>
            <p:nvPr/>
          </p:nvSpPr>
          <p:spPr>
            <a:xfrm>
              <a:off x="8251325" y="75915"/>
              <a:ext cx="0" cy="6329225"/>
            </a:xfrm>
            <a:custGeom>
              <a:avLst/>
              <a:pathLst>
                <a:path w="0" h="6329225">
                  <a:moveTo>
                    <a:pt x="0" y="6329225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4782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" name="rc18"/>
            <p:cNvSpPr/>
            <p:nvPr/>
          </p:nvSpPr>
          <p:spPr>
            <a:xfrm>
              <a:off x="832430" y="363607"/>
              <a:ext cx="1225138" cy="5334739"/>
            </a:xfrm>
            <a:prstGeom prst="rect">
              <a:avLst/>
            </a:prstGeom>
            <a:solidFill>
              <a:srgbClr val="4472C4">
                <a:alpha val="100000"/>
              </a:srgbClr>
            </a:solidFill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9" name="rc19"/>
            <p:cNvSpPr/>
            <p:nvPr/>
          </p:nvSpPr>
          <p:spPr>
            <a:xfrm>
              <a:off x="4916226" y="363607"/>
              <a:ext cx="1225138" cy="5753841"/>
            </a:xfrm>
            <a:prstGeom prst="rect">
              <a:avLst/>
            </a:prstGeom>
            <a:solidFill>
              <a:srgbClr val="ED7D31">
                <a:alpha val="100000"/>
              </a:srgbClr>
            </a:solidFill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20" name="rc20"/>
            <p:cNvSpPr/>
            <p:nvPr/>
          </p:nvSpPr>
          <p:spPr>
            <a:xfrm>
              <a:off x="2193695" y="363607"/>
              <a:ext cx="1225138" cy="5589203"/>
            </a:xfrm>
            <a:prstGeom prst="rect">
              <a:avLst/>
            </a:prstGeom>
            <a:solidFill>
              <a:srgbClr val="A5A5A5">
                <a:alpha val="100000"/>
              </a:srgbClr>
            </a:solidFill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21" name="rc21"/>
            <p:cNvSpPr/>
            <p:nvPr/>
          </p:nvSpPr>
          <p:spPr>
            <a:xfrm>
              <a:off x="7638756" y="363607"/>
              <a:ext cx="1225138" cy="1663842"/>
            </a:xfrm>
            <a:prstGeom prst="rect">
              <a:avLst/>
            </a:prstGeom>
            <a:solidFill>
              <a:srgbClr val="FFC000">
                <a:alpha val="100000"/>
              </a:srgbClr>
            </a:solidFill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22" name="rc22"/>
            <p:cNvSpPr/>
            <p:nvPr/>
          </p:nvSpPr>
          <p:spPr>
            <a:xfrm>
              <a:off x="3554961" y="363607"/>
              <a:ext cx="1225138" cy="2736503"/>
            </a:xfrm>
            <a:prstGeom prst="rect">
              <a:avLst/>
            </a:prstGeom>
            <a:solidFill>
              <a:srgbClr val="5B9BD5">
                <a:alpha val="100000"/>
              </a:srgbClr>
            </a:solidFill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23" name="rc23"/>
            <p:cNvSpPr/>
            <p:nvPr/>
          </p:nvSpPr>
          <p:spPr>
            <a:xfrm>
              <a:off x="6277491" y="363607"/>
              <a:ext cx="1225138" cy="1946910"/>
            </a:xfrm>
            <a:prstGeom prst="rect">
              <a:avLst/>
            </a:prstGeom>
            <a:solidFill>
              <a:srgbClr val="70AD47">
                <a:alpha val="100000"/>
              </a:srgbClr>
            </a:solidFill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24" name="tx24"/>
            <p:cNvSpPr/>
            <p:nvPr/>
          </p:nvSpPr>
          <p:spPr>
            <a:xfrm>
              <a:off x="1251650" y="5562558"/>
              <a:ext cx="386699" cy="9052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995" i="0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0.0015</a:t>
              </a:r>
            </a:p>
          </p:txBody>
        </p:sp>
        <p:sp>
          <p:nvSpPr>
            <p:cNvPr id="25" name="tx25"/>
            <p:cNvSpPr/>
            <p:nvPr/>
          </p:nvSpPr>
          <p:spPr>
            <a:xfrm>
              <a:off x="5335445" y="5981660"/>
              <a:ext cx="386699" cy="9052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995" i="0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0.0009</a:t>
              </a:r>
            </a:p>
          </p:txBody>
        </p:sp>
        <p:sp>
          <p:nvSpPr>
            <p:cNvPr id="26" name="tx26"/>
            <p:cNvSpPr/>
            <p:nvPr/>
          </p:nvSpPr>
          <p:spPr>
            <a:xfrm>
              <a:off x="2617624" y="5817022"/>
              <a:ext cx="377281" cy="9052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995" i="0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0.0011</a:t>
              </a:r>
            </a:p>
          </p:txBody>
        </p:sp>
        <p:sp>
          <p:nvSpPr>
            <p:cNvPr id="27" name="tx27"/>
            <p:cNvSpPr/>
            <p:nvPr/>
          </p:nvSpPr>
          <p:spPr>
            <a:xfrm>
              <a:off x="8057975" y="1891661"/>
              <a:ext cx="386699" cy="9052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995" i="0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0.1316</a:t>
              </a:r>
            </a:p>
          </p:txBody>
        </p:sp>
        <p:sp>
          <p:nvSpPr>
            <p:cNvPr id="28" name="tx28"/>
            <p:cNvSpPr/>
            <p:nvPr/>
          </p:nvSpPr>
          <p:spPr>
            <a:xfrm>
              <a:off x="3974180" y="2964322"/>
              <a:ext cx="386699" cy="9052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995" i="0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0.0356</a:t>
              </a:r>
            </a:p>
          </p:txBody>
        </p:sp>
        <p:sp>
          <p:nvSpPr>
            <p:cNvPr id="29" name="tx29"/>
            <p:cNvSpPr/>
            <p:nvPr/>
          </p:nvSpPr>
          <p:spPr>
            <a:xfrm>
              <a:off x="6696710" y="2174729"/>
              <a:ext cx="386699" cy="9052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995" i="0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0.0932</a:t>
              </a:r>
            </a:p>
          </p:txBody>
        </p:sp>
        <p:sp>
          <p:nvSpPr>
            <p:cNvPr id="30" name="tx30"/>
            <p:cNvSpPr/>
            <p:nvPr/>
          </p:nvSpPr>
          <p:spPr>
            <a:xfrm>
              <a:off x="255056" y="5987389"/>
              <a:ext cx="304860" cy="87233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960" i="0" b="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0.001</a:t>
              </a:r>
            </a:p>
          </p:txBody>
        </p:sp>
        <p:sp>
          <p:nvSpPr>
            <p:cNvPr id="31" name="tx31"/>
            <p:cNvSpPr/>
            <p:nvPr/>
          </p:nvSpPr>
          <p:spPr>
            <a:xfrm>
              <a:off x="255056" y="4098256"/>
              <a:ext cx="304860" cy="87233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960" i="0" b="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0.010</a:t>
              </a:r>
            </a:p>
          </p:txBody>
        </p:sp>
        <p:sp>
          <p:nvSpPr>
            <p:cNvPr id="32" name="tx32"/>
            <p:cNvSpPr/>
            <p:nvPr/>
          </p:nvSpPr>
          <p:spPr>
            <a:xfrm>
              <a:off x="255056" y="2209123"/>
              <a:ext cx="304860" cy="87233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960" i="0" b="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0.100</a:t>
              </a:r>
            </a:p>
          </p:txBody>
        </p:sp>
        <p:sp>
          <p:nvSpPr>
            <p:cNvPr id="33" name="tx33"/>
            <p:cNvSpPr/>
            <p:nvPr/>
          </p:nvSpPr>
          <p:spPr>
            <a:xfrm>
              <a:off x="255056" y="319990"/>
              <a:ext cx="304860" cy="87233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960" i="0" b="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1.000</a:t>
              </a:r>
            </a:p>
          </p:txBody>
        </p:sp>
        <p:sp>
          <p:nvSpPr>
            <p:cNvPr id="34" name="tx34"/>
            <p:cNvSpPr/>
            <p:nvPr/>
          </p:nvSpPr>
          <p:spPr>
            <a:xfrm>
              <a:off x="1285848" y="6473464"/>
              <a:ext cx="318302" cy="10003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1100" i="0" b="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GAM</a:t>
              </a:r>
            </a:p>
          </p:txBody>
        </p:sp>
        <p:sp>
          <p:nvSpPr>
            <p:cNvPr id="35" name="tx35"/>
            <p:cNvSpPr/>
            <p:nvPr/>
          </p:nvSpPr>
          <p:spPr>
            <a:xfrm>
              <a:off x="2666453" y="6473464"/>
              <a:ext cx="279623" cy="10003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1100" i="0" b="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OLS</a:t>
              </a:r>
            </a:p>
          </p:txBody>
        </p:sp>
        <p:sp>
          <p:nvSpPr>
            <p:cNvPr id="36" name="tx36"/>
            <p:cNvSpPr/>
            <p:nvPr/>
          </p:nvSpPr>
          <p:spPr>
            <a:xfrm>
              <a:off x="3957949" y="6473464"/>
              <a:ext cx="419160" cy="10003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1100" i="0" b="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部分线性</a:t>
              </a:r>
            </a:p>
          </p:txBody>
        </p:sp>
        <p:sp>
          <p:nvSpPr>
            <p:cNvPr id="37" name="tx37"/>
            <p:cNvSpPr/>
            <p:nvPr/>
          </p:nvSpPr>
          <p:spPr>
            <a:xfrm>
              <a:off x="5371610" y="6473464"/>
              <a:ext cx="314370" cy="10003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1100" i="0" b="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多项式</a:t>
              </a:r>
            </a:p>
          </p:txBody>
        </p:sp>
        <p:sp>
          <p:nvSpPr>
            <p:cNvPr id="38" name="tx38"/>
            <p:cNvSpPr/>
            <p:nvPr/>
          </p:nvSpPr>
          <p:spPr>
            <a:xfrm>
              <a:off x="6732875" y="6473464"/>
              <a:ext cx="314370" cy="10003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1100" i="0" b="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核回归</a:t>
              </a:r>
            </a:p>
          </p:txBody>
        </p:sp>
        <p:sp>
          <p:nvSpPr>
            <p:cNvPr id="39" name="tx39"/>
            <p:cNvSpPr/>
            <p:nvPr/>
          </p:nvSpPr>
          <p:spPr>
            <a:xfrm>
              <a:off x="8094140" y="6473464"/>
              <a:ext cx="314370" cy="10003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1100" i="0" b="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岭回归</a:t>
              </a:r>
            </a:p>
          </p:txBody>
        </p:sp>
        <p:sp>
          <p:nvSpPr>
            <p:cNvPr id="40" name="tx40"/>
            <p:cNvSpPr/>
            <p:nvPr/>
          </p:nvSpPr>
          <p:spPr>
            <a:xfrm>
              <a:off x="4733862" y="6640901"/>
              <a:ext cx="228600" cy="10917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1200" i="0" b="1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模型</a:t>
              </a:r>
            </a:p>
          </p:txBody>
        </p:sp>
        <p:sp>
          <p:nvSpPr>
            <p:cNvPr id="41" name="tx41"/>
            <p:cNvSpPr/>
            <p:nvPr/>
          </p:nvSpPr>
          <p:spPr>
            <a:xfrm rot="-5400000">
              <a:off x="-269545" y="3185938"/>
              <a:ext cx="800100" cy="10917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1200" i="0" b="1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计算时间（秒）</a:t>
              </a:r>
            </a:p>
          </p:txBody>
        </p:sp>
      </p:grp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 xmlns:pic="http://schemas.openxmlformats.org/drawingml/2006/picture">
        <p:nvGrpSpPr>
          <p:cNvPr id="2" name=""/>
          <p:cNvGrpSpPr/>
          <p:nvPr/>
        </p:nvGrpSpPr>
        <p:grpSpPr>
          <a:xfrm rot="0">
            <a:off x="0" y="0"/>
            <a:ext cx="9144000" cy="6858000"/>
            <a:chOff x="0" y="0"/>
            <a:chExt cx="9144000" cy="6858000"/>
          </a:xfrm>
        </p:grpSpPr>
        <p:sp>
          <p:nvSpPr>
            <p:cNvPr id="3" name="rc3"/>
            <p:cNvSpPr/>
            <p:nvPr/>
          </p:nvSpPr>
          <p:spPr>
            <a:xfrm>
              <a:off x="0" y="0"/>
              <a:ext cx="9144000" cy="6858000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  <a:ln w="9525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" name="rc4"/>
            <p:cNvSpPr/>
            <p:nvPr/>
          </p:nvSpPr>
          <p:spPr>
            <a:xfrm>
              <a:off x="0" y="0"/>
              <a:ext cx="9144000" cy="6858000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5" name="pl5"/>
            <p:cNvSpPr/>
            <p:nvPr/>
          </p:nvSpPr>
          <p:spPr>
            <a:xfrm>
              <a:off x="391137" y="5099358"/>
              <a:ext cx="8676947" cy="0"/>
            </a:xfrm>
            <a:custGeom>
              <a:avLst/>
              <a:pathLst>
                <a:path w="8676947" h="0">
                  <a:moveTo>
                    <a:pt x="0" y="0"/>
                  </a:moveTo>
                  <a:lnTo>
                    <a:pt x="8676947" y="0"/>
                  </a:lnTo>
                  <a:lnTo>
                    <a:pt x="8676947" y="0"/>
                  </a:lnTo>
                </a:path>
              </a:pathLst>
            </a:custGeom>
            <a:ln w="7391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" name="pl6"/>
            <p:cNvSpPr/>
            <p:nvPr/>
          </p:nvSpPr>
          <p:spPr>
            <a:xfrm>
              <a:off x="391137" y="3063176"/>
              <a:ext cx="8676947" cy="0"/>
            </a:xfrm>
            <a:custGeom>
              <a:avLst/>
              <a:pathLst>
                <a:path w="8676947" h="0">
                  <a:moveTo>
                    <a:pt x="0" y="0"/>
                  </a:moveTo>
                  <a:lnTo>
                    <a:pt x="8676947" y="0"/>
                  </a:lnTo>
                  <a:lnTo>
                    <a:pt x="8676947" y="0"/>
                  </a:lnTo>
                </a:path>
              </a:pathLst>
            </a:custGeom>
            <a:ln w="7391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" name="pl7"/>
            <p:cNvSpPr/>
            <p:nvPr/>
          </p:nvSpPr>
          <p:spPr>
            <a:xfrm>
              <a:off x="391137" y="1026995"/>
              <a:ext cx="8676947" cy="0"/>
            </a:xfrm>
            <a:custGeom>
              <a:avLst/>
              <a:pathLst>
                <a:path w="8676947" h="0">
                  <a:moveTo>
                    <a:pt x="0" y="0"/>
                  </a:moveTo>
                  <a:lnTo>
                    <a:pt x="8676947" y="0"/>
                  </a:lnTo>
                  <a:lnTo>
                    <a:pt x="8676947" y="0"/>
                  </a:lnTo>
                </a:path>
              </a:pathLst>
            </a:custGeom>
            <a:ln w="7391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" name="pl8"/>
            <p:cNvSpPr/>
            <p:nvPr/>
          </p:nvSpPr>
          <p:spPr>
            <a:xfrm>
              <a:off x="391137" y="6117448"/>
              <a:ext cx="8676947" cy="0"/>
            </a:xfrm>
            <a:custGeom>
              <a:avLst/>
              <a:pathLst>
                <a:path w="8676947" h="0">
                  <a:moveTo>
                    <a:pt x="0" y="0"/>
                  </a:moveTo>
                  <a:lnTo>
                    <a:pt x="8676947" y="0"/>
                  </a:lnTo>
                  <a:lnTo>
                    <a:pt x="8676947" y="0"/>
                  </a:lnTo>
                </a:path>
              </a:pathLst>
            </a:custGeom>
            <a:ln w="14782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" name="pl9"/>
            <p:cNvSpPr/>
            <p:nvPr/>
          </p:nvSpPr>
          <p:spPr>
            <a:xfrm>
              <a:off x="391137" y="4081267"/>
              <a:ext cx="8676947" cy="0"/>
            </a:xfrm>
            <a:custGeom>
              <a:avLst/>
              <a:pathLst>
                <a:path w="8676947" h="0">
                  <a:moveTo>
                    <a:pt x="0" y="0"/>
                  </a:moveTo>
                  <a:lnTo>
                    <a:pt x="8676947" y="0"/>
                  </a:lnTo>
                  <a:lnTo>
                    <a:pt x="8676947" y="0"/>
                  </a:lnTo>
                </a:path>
              </a:pathLst>
            </a:custGeom>
            <a:ln w="14782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" name="pl10"/>
            <p:cNvSpPr/>
            <p:nvPr/>
          </p:nvSpPr>
          <p:spPr>
            <a:xfrm>
              <a:off x="391137" y="2045085"/>
              <a:ext cx="8676947" cy="0"/>
            </a:xfrm>
            <a:custGeom>
              <a:avLst/>
              <a:pathLst>
                <a:path w="8676947" h="0">
                  <a:moveTo>
                    <a:pt x="0" y="0"/>
                  </a:moveTo>
                  <a:lnTo>
                    <a:pt x="8676947" y="0"/>
                  </a:lnTo>
                  <a:lnTo>
                    <a:pt x="8676947" y="0"/>
                  </a:lnTo>
                </a:path>
              </a:pathLst>
            </a:custGeom>
            <a:ln w="14782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" name="pl11"/>
            <p:cNvSpPr/>
            <p:nvPr/>
          </p:nvSpPr>
          <p:spPr>
            <a:xfrm>
              <a:off x="1230841" y="75915"/>
              <a:ext cx="0" cy="6329225"/>
            </a:xfrm>
            <a:custGeom>
              <a:avLst/>
              <a:pathLst>
                <a:path w="0" h="6329225">
                  <a:moveTo>
                    <a:pt x="0" y="6329225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4782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" name="pl12"/>
            <p:cNvSpPr/>
            <p:nvPr/>
          </p:nvSpPr>
          <p:spPr>
            <a:xfrm>
              <a:off x="2630349" y="75915"/>
              <a:ext cx="0" cy="6329225"/>
            </a:xfrm>
            <a:custGeom>
              <a:avLst/>
              <a:pathLst>
                <a:path w="0" h="6329225">
                  <a:moveTo>
                    <a:pt x="0" y="6329225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4782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" name="pl13"/>
            <p:cNvSpPr/>
            <p:nvPr/>
          </p:nvSpPr>
          <p:spPr>
            <a:xfrm>
              <a:off x="4029857" y="75915"/>
              <a:ext cx="0" cy="6329225"/>
            </a:xfrm>
            <a:custGeom>
              <a:avLst/>
              <a:pathLst>
                <a:path w="0" h="6329225">
                  <a:moveTo>
                    <a:pt x="0" y="6329225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4782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" name="pl14"/>
            <p:cNvSpPr/>
            <p:nvPr/>
          </p:nvSpPr>
          <p:spPr>
            <a:xfrm>
              <a:off x="5429364" y="75915"/>
              <a:ext cx="0" cy="6329225"/>
            </a:xfrm>
            <a:custGeom>
              <a:avLst/>
              <a:pathLst>
                <a:path w="0" h="6329225">
                  <a:moveTo>
                    <a:pt x="0" y="6329225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4782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" name="pl15"/>
            <p:cNvSpPr/>
            <p:nvPr/>
          </p:nvSpPr>
          <p:spPr>
            <a:xfrm>
              <a:off x="6828872" y="75915"/>
              <a:ext cx="0" cy="6329225"/>
            </a:xfrm>
            <a:custGeom>
              <a:avLst/>
              <a:pathLst>
                <a:path w="0" h="6329225">
                  <a:moveTo>
                    <a:pt x="0" y="6329225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4782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" name="pl16"/>
            <p:cNvSpPr/>
            <p:nvPr/>
          </p:nvSpPr>
          <p:spPr>
            <a:xfrm>
              <a:off x="8228380" y="75915"/>
              <a:ext cx="0" cy="6329225"/>
            </a:xfrm>
            <a:custGeom>
              <a:avLst/>
              <a:pathLst>
                <a:path w="0" h="6329225">
                  <a:moveTo>
                    <a:pt x="0" y="6329225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4782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" name="rc17"/>
            <p:cNvSpPr/>
            <p:nvPr/>
          </p:nvSpPr>
          <p:spPr>
            <a:xfrm>
              <a:off x="601063" y="4106108"/>
              <a:ext cx="1259556" cy="2011339"/>
            </a:xfrm>
            <a:prstGeom prst="rect">
              <a:avLst/>
            </a:prstGeom>
            <a:solidFill>
              <a:srgbClr val="4472C4">
                <a:alpha val="100000"/>
              </a:srgbClr>
            </a:solidFill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8" name="rc18"/>
            <p:cNvSpPr/>
            <p:nvPr/>
          </p:nvSpPr>
          <p:spPr>
            <a:xfrm>
              <a:off x="4799586" y="4099389"/>
              <a:ext cx="1259556" cy="2018059"/>
            </a:xfrm>
            <a:prstGeom prst="rect">
              <a:avLst/>
            </a:prstGeom>
            <a:solidFill>
              <a:srgbClr val="ED7D31">
                <a:alpha val="100000"/>
              </a:srgbClr>
            </a:solidFill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9" name="rc19"/>
            <p:cNvSpPr/>
            <p:nvPr/>
          </p:nvSpPr>
          <p:spPr>
            <a:xfrm>
              <a:off x="2000570" y="4089004"/>
              <a:ext cx="1259556" cy="2028443"/>
            </a:xfrm>
            <a:prstGeom prst="rect">
              <a:avLst/>
            </a:prstGeom>
            <a:solidFill>
              <a:srgbClr val="A5A5A5">
                <a:alpha val="100000"/>
              </a:srgbClr>
            </a:solidFill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20" name="rc20"/>
            <p:cNvSpPr/>
            <p:nvPr/>
          </p:nvSpPr>
          <p:spPr>
            <a:xfrm>
              <a:off x="7598601" y="4089004"/>
              <a:ext cx="1259556" cy="2028443"/>
            </a:xfrm>
            <a:prstGeom prst="rect">
              <a:avLst/>
            </a:prstGeom>
            <a:solidFill>
              <a:srgbClr val="FFC000">
                <a:alpha val="100000"/>
              </a:srgbClr>
            </a:solidFill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21" name="rc21"/>
            <p:cNvSpPr/>
            <p:nvPr/>
          </p:nvSpPr>
          <p:spPr>
            <a:xfrm>
              <a:off x="3400078" y="3305075"/>
              <a:ext cx="1259556" cy="2812373"/>
            </a:xfrm>
            <a:prstGeom prst="rect">
              <a:avLst/>
            </a:prstGeom>
            <a:solidFill>
              <a:srgbClr val="5B9BD5">
                <a:alpha val="100000"/>
              </a:srgbClr>
            </a:solidFill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22" name="rc22"/>
            <p:cNvSpPr/>
            <p:nvPr/>
          </p:nvSpPr>
          <p:spPr>
            <a:xfrm>
              <a:off x="6199093" y="363607"/>
              <a:ext cx="1259556" cy="5753841"/>
            </a:xfrm>
            <a:prstGeom prst="rect">
              <a:avLst/>
            </a:prstGeom>
            <a:solidFill>
              <a:srgbClr val="70AD47">
                <a:alpha val="100000"/>
              </a:srgbClr>
            </a:solidFill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23" name="tx23"/>
            <p:cNvSpPr/>
            <p:nvPr/>
          </p:nvSpPr>
          <p:spPr>
            <a:xfrm>
              <a:off x="1037491" y="3970320"/>
              <a:ext cx="386699" cy="9052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995" i="0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0.9878</a:t>
              </a:r>
            </a:p>
          </p:txBody>
        </p:sp>
        <p:sp>
          <p:nvSpPr>
            <p:cNvPr id="24" name="tx24"/>
            <p:cNvSpPr/>
            <p:nvPr/>
          </p:nvSpPr>
          <p:spPr>
            <a:xfrm>
              <a:off x="5240724" y="3963600"/>
              <a:ext cx="377281" cy="9052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995" i="0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0.9911</a:t>
              </a:r>
            </a:p>
          </p:txBody>
        </p:sp>
        <p:sp>
          <p:nvSpPr>
            <p:cNvPr id="25" name="tx25"/>
            <p:cNvSpPr/>
            <p:nvPr/>
          </p:nvSpPr>
          <p:spPr>
            <a:xfrm>
              <a:off x="2436999" y="3953216"/>
              <a:ext cx="386699" cy="9052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995" i="0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0.9962</a:t>
              </a:r>
            </a:p>
          </p:txBody>
        </p:sp>
        <p:sp>
          <p:nvSpPr>
            <p:cNvPr id="26" name="tx26"/>
            <p:cNvSpPr/>
            <p:nvPr/>
          </p:nvSpPr>
          <p:spPr>
            <a:xfrm>
              <a:off x="8035030" y="3953216"/>
              <a:ext cx="386699" cy="9052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995" i="0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0.9962</a:t>
              </a:r>
            </a:p>
          </p:txBody>
        </p:sp>
        <p:sp>
          <p:nvSpPr>
            <p:cNvPr id="27" name="tx27"/>
            <p:cNvSpPr/>
            <p:nvPr/>
          </p:nvSpPr>
          <p:spPr>
            <a:xfrm>
              <a:off x="3836507" y="3169286"/>
              <a:ext cx="386699" cy="9052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995" i="0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1.3812</a:t>
              </a:r>
            </a:p>
          </p:txBody>
        </p:sp>
        <p:sp>
          <p:nvSpPr>
            <p:cNvPr id="28" name="tx28"/>
            <p:cNvSpPr/>
            <p:nvPr/>
          </p:nvSpPr>
          <p:spPr>
            <a:xfrm>
              <a:off x="6635522" y="227818"/>
              <a:ext cx="386699" cy="9052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995" i="0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2.8258</a:t>
              </a:r>
            </a:p>
          </p:txBody>
        </p:sp>
        <p:sp>
          <p:nvSpPr>
            <p:cNvPr id="29" name="tx29"/>
            <p:cNvSpPr/>
            <p:nvPr/>
          </p:nvSpPr>
          <p:spPr>
            <a:xfrm>
              <a:off x="255056" y="6073831"/>
              <a:ext cx="67757" cy="87233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960" i="0" b="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0</a:t>
              </a:r>
            </a:p>
          </p:txBody>
        </p:sp>
        <p:sp>
          <p:nvSpPr>
            <p:cNvPr id="30" name="tx30"/>
            <p:cNvSpPr/>
            <p:nvPr/>
          </p:nvSpPr>
          <p:spPr>
            <a:xfrm>
              <a:off x="255056" y="4037650"/>
              <a:ext cx="67757" cy="87233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960" i="0" b="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1</a:t>
              </a:r>
            </a:p>
          </p:txBody>
        </p:sp>
        <p:sp>
          <p:nvSpPr>
            <p:cNvPr id="31" name="tx31"/>
            <p:cNvSpPr/>
            <p:nvPr/>
          </p:nvSpPr>
          <p:spPr>
            <a:xfrm>
              <a:off x="255056" y="2001469"/>
              <a:ext cx="67757" cy="87233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960" i="0" b="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2</a:t>
              </a:r>
            </a:p>
          </p:txBody>
        </p:sp>
        <p:sp>
          <p:nvSpPr>
            <p:cNvPr id="32" name="tx32"/>
            <p:cNvSpPr/>
            <p:nvPr/>
          </p:nvSpPr>
          <p:spPr>
            <a:xfrm>
              <a:off x="1071690" y="6473464"/>
              <a:ext cx="318302" cy="10003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1100" i="0" b="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GAM</a:t>
              </a:r>
            </a:p>
          </p:txBody>
        </p:sp>
        <p:sp>
          <p:nvSpPr>
            <p:cNvPr id="33" name="tx33"/>
            <p:cNvSpPr/>
            <p:nvPr/>
          </p:nvSpPr>
          <p:spPr>
            <a:xfrm>
              <a:off x="2490537" y="6473464"/>
              <a:ext cx="279623" cy="10003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1100" i="0" b="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OLS</a:t>
              </a:r>
            </a:p>
          </p:txBody>
        </p:sp>
        <p:sp>
          <p:nvSpPr>
            <p:cNvPr id="34" name="tx34"/>
            <p:cNvSpPr/>
            <p:nvPr/>
          </p:nvSpPr>
          <p:spPr>
            <a:xfrm>
              <a:off x="3820276" y="6473464"/>
              <a:ext cx="419160" cy="10003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1100" i="0" b="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部分线性</a:t>
              </a:r>
            </a:p>
          </p:txBody>
        </p:sp>
        <p:sp>
          <p:nvSpPr>
            <p:cNvPr id="35" name="tx35"/>
            <p:cNvSpPr/>
            <p:nvPr/>
          </p:nvSpPr>
          <p:spPr>
            <a:xfrm>
              <a:off x="5272179" y="6473464"/>
              <a:ext cx="314370" cy="10003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1100" i="0" b="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多项式</a:t>
              </a:r>
            </a:p>
          </p:txBody>
        </p:sp>
        <p:sp>
          <p:nvSpPr>
            <p:cNvPr id="36" name="tx36"/>
            <p:cNvSpPr/>
            <p:nvPr/>
          </p:nvSpPr>
          <p:spPr>
            <a:xfrm>
              <a:off x="6671687" y="6473464"/>
              <a:ext cx="314370" cy="10003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1100" i="0" b="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核回归</a:t>
              </a:r>
            </a:p>
          </p:txBody>
        </p:sp>
        <p:sp>
          <p:nvSpPr>
            <p:cNvPr id="37" name="tx37"/>
            <p:cNvSpPr/>
            <p:nvPr/>
          </p:nvSpPr>
          <p:spPr>
            <a:xfrm>
              <a:off x="8071194" y="6473464"/>
              <a:ext cx="314370" cy="10003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1100" i="0" b="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岭回归</a:t>
              </a:r>
            </a:p>
          </p:txBody>
        </p:sp>
        <p:sp>
          <p:nvSpPr>
            <p:cNvPr id="38" name="tx38"/>
            <p:cNvSpPr/>
            <p:nvPr/>
          </p:nvSpPr>
          <p:spPr>
            <a:xfrm>
              <a:off x="4615310" y="6640901"/>
              <a:ext cx="228600" cy="10917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1200" i="0" b="1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模型</a:t>
              </a:r>
            </a:p>
          </p:txBody>
        </p:sp>
        <p:sp>
          <p:nvSpPr>
            <p:cNvPr id="39" name="tx39"/>
            <p:cNvSpPr/>
            <p:nvPr/>
          </p:nvSpPr>
          <p:spPr>
            <a:xfrm rot="-5400000">
              <a:off x="-377581" y="3185938"/>
              <a:ext cx="1016172" cy="10917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1200" i="0" b="1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均方误差（MSE）</a:t>
              </a:r>
            </a:p>
          </p:txBody>
        </p:sp>
      </p:grp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 xmlns:pic="http://schemas.openxmlformats.org/drawingml/2006/picture">
        <p:nvGrpSpPr>
          <p:cNvPr id="2" name=""/>
          <p:cNvGrpSpPr/>
          <p:nvPr/>
        </p:nvGrpSpPr>
        <p:grpSpPr>
          <a:xfrm rot="0">
            <a:off x="0" y="0"/>
            <a:ext cx="9144000" cy="6858000"/>
            <a:chOff x="0" y="0"/>
            <a:chExt cx="9144000" cy="6858000"/>
          </a:xfrm>
        </p:grpSpPr>
        <p:sp>
          <p:nvSpPr>
            <p:cNvPr id="3" name="rc3"/>
            <p:cNvSpPr/>
            <p:nvPr/>
          </p:nvSpPr>
          <p:spPr>
            <a:xfrm>
              <a:off x="0" y="0"/>
              <a:ext cx="9144000" cy="6858000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  <a:ln w="9525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" name="rc4"/>
            <p:cNvSpPr/>
            <p:nvPr/>
          </p:nvSpPr>
          <p:spPr>
            <a:xfrm>
              <a:off x="0" y="0"/>
              <a:ext cx="9144000" cy="6858000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5" name="pl5"/>
            <p:cNvSpPr/>
            <p:nvPr/>
          </p:nvSpPr>
          <p:spPr>
            <a:xfrm>
              <a:off x="458894" y="5566842"/>
              <a:ext cx="8609190" cy="0"/>
            </a:xfrm>
            <a:custGeom>
              <a:avLst/>
              <a:pathLst>
                <a:path w="8609190" h="0">
                  <a:moveTo>
                    <a:pt x="0" y="0"/>
                  </a:moveTo>
                  <a:lnTo>
                    <a:pt x="8609190" y="0"/>
                  </a:lnTo>
                  <a:lnTo>
                    <a:pt x="8609190" y="0"/>
                  </a:lnTo>
                </a:path>
              </a:pathLst>
            </a:custGeom>
            <a:ln w="7391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" name="pl6"/>
            <p:cNvSpPr/>
            <p:nvPr/>
          </p:nvSpPr>
          <p:spPr>
            <a:xfrm>
              <a:off x="458894" y="4410735"/>
              <a:ext cx="8609190" cy="0"/>
            </a:xfrm>
            <a:custGeom>
              <a:avLst/>
              <a:pathLst>
                <a:path w="8609190" h="0">
                  <a:moveTo>
                    <a:pt x="0" y="0"/>
                  </a:moveTo>
                  <a:lnTo>
                    <a:pt x="8609190" y="0"/>
                  </a:lnTo>
                  <a:lnTo>
                    <a:pt x="8609190" y="0"/>
                  </a:lnTo>
                </a:path>
              </a:pathLst>
            </a:custGeom>
            <a:ln w="7391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" name="pl7"/>
            <p:cNvSpPr/>
            <p:nvPr/>
          </p:nvSpPr>
          <p:spPr>
            <a:xfrm>
              <a:off x="458894" y="3254629"/>
              <a:ext cx="8609190" cy="0"/>
            </a:xfrm>
            <a:custGeom>
              <a:avLst/>
              <a:pathLst>
                <a:path w="8609190" h="0">
                  <a:moveTo>
                    <a:pt x="0" y="0"/>
                  </a:moveTo>
                  <a:lnTo>
                    <a:pt x="8609190" y="0"/>
                  </a:lnTo>
                  <a:lnTo>
                    <a:pt x="8609190" y="0"/>
                  </a:lnTo>
                </a:path>
              </a:pathLst>
            </a:custGeom>
            <a:ln w="7391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" name="pl8"/>
            <p:cNvSpPr/>
            <p:nvPr/>
          </p:nvSpPr>
          <p:spPr>
            <a:xfrm>
              <a:off x="458894" y="2098523"/>
              <a:ext cx="8609190" cy="0"/>
            </a:xfrm>
            <a:custGeom>
              <a:avLst/>
              <a:pathLst>
                <a:path w="8609190" h="0">
                  <a:moveTo>
                    <a:pt x="0" y="0"/>
                  </a:moveTo>
                  <a:lnTo>
                    <a:pt x="8609190" y="0"/>
                  </a:lnTo>
                  <a:lnTo>
                    <a:pt x="8609190" y="0"/>
                  </a:lnTo>
                </a:path>
              </a:pathLst>
            </a:custGeom>
            <a:ln w="7391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" name="pl9"/>
            <p:cNvSpPr/>
            <p:nvPr/>
          </p:nvSpPr>
          <p:spPr>
            <a:xfrm>
              <a:off x="458894" y="942417"/>
              <a:ext cx="8609190" cy="0"/>
            </a:xfrm>
            <a:custGeom>
              <a:avLst/>
              <a:pathLst>
                <a:path w="8609190" h="0">
                  <a:moveTo>
                    <a:pt x="0" y="0"/>
                  </a:moveTo>
                  <a:lnTo>
                    <a:pt x="8609190" y="0"/>
                  </a:lnTo>
                  <a:lnTo>
                    <a:pt x="8609190" y="0"/>
                  </a:lnTo>
                </a:path>
              </a:pathLst>
            </a:custGeom>
            <a:ln w="7391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" name="pl10"/>
            <p:cNvSpPr/>
            <p:nvPr/>
          </p:nvSpPr>
          <p:spPr>
            <a:xfrm>
              <a:off x="1285028" y="75915"/>
              <a:ext cx="0" cy="6345867"/>
            </a:xfrm>
            <a:custGeom>
              <a:avLst/>
              <a:pathLst>
                <a:path w="0" h="6345867">
                  <a:moveTo>
                    <a:pt x="0" y="6345867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7391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" name="pl11"/>
            <p:cNvSpPr/>
            <p:nvPr/>
          </p:nvSpPr>
          <p:spPr>
            <a:xfrm>
              <a:off x="2589451" y="75915"/>
              <a:ext cx="0" cy="6345867"/>
            </a:xfrm>
            <a:custGeom>
              <a:avLst/>
              <a:pathLst>
                <a:path w="0" h="6345867">
                  <a:moveTo>
                    <a:pt x="0" y="6345867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7391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" name="pl12"/>
            <p:cNvSpPr/>
            <p:nvPr/>
          </p:nvSpPr>
          <p:spPr>
            <a:xfrm>
              <a:off x="6067912" y="75915"/>
              <a:ext cx="0" cy="6345867"/>
            </a:xfrm>
            <a:custGeom>
              <a:avLst/>
              <a:pathLst>
                <a:path w="0" h="6345867">
                  <a:moveTo>
                    <a:pt x="0" y="6345867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7391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" name="pl13"/>
            <p:cNvSpPr/>
            <p:nvPr/>
          </p:nvSpPr>
          <p:spPr>
            <a:xfrm>
              <a:off x="458894" y="6144895"/>
              <a:ext cx="8609190" cy="0"/>
            </a:xfrm>
            <a:custGeom>
              <a:avLst/>
              <a:pathLst>
                <a:path w="8609190" h="0">
                  <a:moveTo>
                    <a:pt x="0" y="0"/>
                  </a:moveTo>
                  <a:lnTo>
                    <a:pt x="8609190" y="0"/>
                  </a:lnTo>
                  <a:lnTo>
                    <a:pt x="8609190" y="0"/>
                  </a:lnTo>
                </a:path>
              </a:pathLst>
            </a:custGeom>
            <a:ln w="14782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" name="pl14"/>
            <p:cNvSpPr/>
            <p:nvPr/>
          </p:nvSpPr>
          <p:spPr>
            <a:xfrm>
              <a:off x="458894" y="4988789"/>
              <a:ext cx="8609190" cy="0"/>
            </a:xfrm>
            <a:custGeom>
              <a:avLst/>
              <a:pathLst>
                <a:path w="8609190" h="0">
                  <a:moveTo>
                    <a:pt x="0" y="0"/>
                  </a:moveTo>
                  <a:lnTo>
                    <a:pt x="8609190" y="0"/>
                  </a:lnTo>
                  <a:lnTo>
                    <a:pt x="8609190" y="0"/>
                  </a:lnTo>
                </a:path>
              </a:pathLst>
            </a:custGeom>
            <a:ln w="14782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" name="pl15"/>
            <p:cNvSpPr/>
            <p:nvPr/>
          </p:nvSpPr>
          <p:spPr>
            <a:xfrm>
              <a:off x="458894" y="3832682"/>
              <a:ext cx="8609190" cy="0"/>
            </a:xfrm>
            <a:custGeom>
              <a:avLst/>
              <a:pathLst>
                <a:path w="8609190" h="0">
                  <a:moveTo>
                    <a:pt x="0" y="0"/>
                  </a:moveTo>
                  <a:lnTo>
                    <a:pt x="8609190" y="0"/>
                  </a:lnTo>
                  <a:lnTo>
                    <a:pt x="8609190" y="0"/>
                  </a:lnTo>
                </a:path>
              </a:pathLst>
            </a:custGeom>
            <a:ln w="14782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" name="pl16"/>
            <p:cNvSpPr/>
            <p:nvPr/>
          </p:nvSpPr>
          <p:spPr>
            <a:xfrm>
              <a:off x="458894" y="2676576"/>
              <a:ext cx="8609190" cy="0"/>
            </a:xfrm>
            <a:custGeom>
              <a:avLst/>
              <a:pathLst>
                <a:path w="8609190" h="0">
                  <a:moveTo>
                    <a:pt x="0" y="0"/>
                  </a:moveTo>
                  <a:lnTo>
                    <a:pt x="8609190" y="0"/>
                  </a:lnTo>
                  <a:lnTo>
                    <a:pt x="8609190" y="0"/>
                  </a:lnTo>
                </a:path>
              </a:pathLst>
            </a:custGeom>
            <a:ln w="14782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" name="pl17"/>
            <p:cNvSpPr/>
            <p:nvPr/>
          </p:nvSpPr>
          <p:spPr>
            <a:xfrm>
              <a:off x="458894" y="1520470"/>
              <a:ext cx="8609190" cy="0"/>
            </a:xfrm>
            <a:custGeom>
              <a:avLst/>
              <a:pathLst>
                <a:path w="8609190" h="0">
                  <a:moveTo>
                    <a:pt x="0" y="0"/>
                  </a:moveTo>
                  <a:lnTo>
                    <a:pt x="8609190" y="0"/>
                  </a:lnTo>
                  <a:lnTo>
                    <a:pt x="8609190" y="0"/>
                  </a:lnTo>
                </a:path>
              </a:pathLst>
            </a:custGeom>
            <a:ln w="14782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" name="pl18"/>
            <p:cNvSpPr/>
            <p:nvPr/>
          </p:nvSpPr>
          <p:spPr>
            <a:xfrm>
              <a:off x="458894" y="364363"/>
              <a:ext cx="8609190" cy="0"/>
            </a:xfrm>
            <a:custGeom>
              <a:avLst/>
              <a:pathLst>
                <a:path w="8609190" h="0">
                  <a:moveTo>
                    <a:pt x="0" y="0"/>
                  </a:moveTo>
                  <a:lnTo>
                    <a:pt x="8609190" y="0"/>
                  </a:lnTo>
                  <a:lnTo>
                    <a:pt x="8609190" y="0"/>
                  </a:lnTo>
                </a:path>
              </a:pathLst>
            </a:custGeom>
            <a:ln w="14782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" name="pl19"/>
            <p:cNvSpPr/>
            <p:nvPr/>
          </p:nvSpPr>
          <p:spPr>
            <a:xfrm>
              <a:off x="850221" y="75915"/>
              <a:ext cx="0" cy="6345867"/>
            </a:xfrm>
            <a:custGeom>
              <a:avLst/>
              <a:pathLst>
                <a:path w="0" h="6345867">
                  <a:moveTo>
                    <a:pt x="0" y="6345867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4782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" name="pl20"/>
            <p:cNvSpPr/>
            <p:nvPr/>
          </p:nvSpPr>
          <p:spPr>
            <a:xfrm>
              <a:off x="1719836" y="75915"/>
              <a:ext cx="0" cy="6345867"/>
            </a:xfrm>
            <a:custGeom>
              <a:avLst/>
              <a:pathLst>
                <a:path w="0" h="6345867">
                  <a:moveTo>
                    <a:pt x="0" y="6345867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4782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" name="pl21"/>
            <p:cNvSpPr/>
            <p:nvPr/>
          </p:nvSpPr>
          <p:spPr>
            <a:xfrm>
              <a:off x="3459066" y="75915"/>
              <a:ext cx="0" cy="6345867"/>
            </a:xfrm>
            <a:custGeom>
              <a:avLst/>
              <a:pathLst>
                <a:path w="0" h="6345867">
                  <a:moveTo>
                    <a:pt x="0" y="6345867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4782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" name="pl22"/>
            <p:cNvSpPr/>
            <p:nvPr/>
          </p:nvSpPr>
          <p:spPr>
            <a:xfrm>
              <a:off x="8676757" y="75915"/>
              <a:ext cx="0" cy="6345867"/>
            </a:xfrm>
            <a:custGeom>
              <a:avLst/>
              <a:pathLst>
                <a:path w="0" h="6345867">
                  <a:moveTo>
                    <a:pt x="0" y="6345867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4782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" name="pl23"/>
            <p:cNvSpPr/>
            <p:nvPr/>
          </p:nvSpPr>
          <p:spPr>
            <a:xfrm>
              <a:off x="850221" y="6047782"/>
              <a:ext cx="7826536" cy="85551"/>
            </a:xfrm>
            <a:custGeom>
              <a:avLst/>
              <a:pathLst>
                <a:path w="7826536" h="85551">
                  <a:moveTo>
                    <a:pt x="0" y="0"/>
                  </a:moveTo>
                  <a:lnTo>
                    <a:pt x="869615" y="84395"/>
                  </a:lnTo>
                  <a:lnTo>
                    <a:pt x="2608845" y="85551"/>
                  </a:lnTo>
                  <a:lnTo>
                    <a:pt x="7826536" y="75146"/>
                  </a:lnTo>
                </a:path>
              </a:pathLst>
            </a:custGeom>
            <a:ln w="32521" cap="flat">
              <a:solidFill>
                <a:srgbClr val="4472C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" name="pl24"/>
            <p:cNvSpPr/>
            <p:nvPr/>
          </p:nvSpPr>
          <p:spPr>
            <a:xfrm>
              <a:off x="850221" y="364363"/>
              <a:ext cx="7826536" cy="5202478"/>
            </a:xfrm>
            <a:custGeom>
              <a:avLst/>
              <a:pathLst>
                <a:path w="7826536" h="5202478">
                  <a:moveTo>
                    <a:pt x="0" y="5202478"/>
                  </a:moveTo>
                  <a:lnTo>
                    <a:pt x="869615" y="4624425"/>
                  </a:lnTo>
                  <a:lnTo>
                    <a:pt x="2608845" y="3468318"/>
                  </a:lnTo>
                  <a:lnTo>
                    <a:pt x="7826536" y="0"/>
                  </a:lnTo>
                </a:path>
              </a:pathLst>
            </a:custGeom>
            <a:ln w="32521" cap="flat">
              <a:solidFill>
                <a:srgbClr val="A5A5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" name="pl25"/>
            <p:cNvSpPr/>
            <p:nvPr/>
          </p:nvSpPr>
          <p:spPr>
            <a:xfrm>
              <a:off x="850221" y="5931015"/>
              <a:ext cx="7826536" cy="52024"/>
            </a:xfrm>
            <a:custGeom>
              <a:avLst/>
              <a:pathLst>
                <a:path w="7826536" h="52024">
                  <a:moveTo>
                    <a:pt x="0" y="52024"/>
                  </a:moveTo>
                  <a:lnTo>
                    <a:pt x="869615" y="0"/>
                  </a:lnTo>
                  <a:lnTo>
                    <a:pt x="2608845" y="13873"/>
                  </a:lnTo>
                  <a:lnTo>
                    <a:pt x="7826536" y="45088"/>
                  </a:lnTo>
                </a:path>
              </a:pathLst>
            </a:custGeom>
            <a:ln w="32521" cap="flat">
              <a:solidFill>
                <a:srgbClr val="ED7D3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" name="pt26"/>
            <p:cNvSpPr/>
            <p:nvPr/>
          </p:nvSpPr>
          <p:spPr>
            <a:xfrm>
              <a:off x="791109" y="5988670"/>
              <a:ext cx="118223" cy="118223"/>
            </a:xfrm>
            <a:prstGeom prst="ellipse">
              <a:avLst/>
            </a:prstGeom>
            <a:solidFill>
              <a:srgbClr val="4472C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7" name="pt27"/>
            <p:cNvSpPr/>
            <p:nvPr/>
          </p:nvSpPr>
          <p:spPr>
            <a:xfrm>
              <a:off x="1660724" y="6073066"/>
              <a:ext cx="118223" cy="118223"/>
            </a:xfrm>
            <a:prstGeom prst="ellipse">
              <a:avLst/>
            </a:prstGeom>
            <a:solidFill>
              <a:srgbClr val="4472C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8" name="pt28"/>
            <p:cNvSpPr/>
            <p:nvPr/>
          </p:nvSpPr>
          <p:spPr>
            <a:xfrm>
              <a:off x="3399955" y="6074222"/>
              <a:ext cx="118223" cy="118223"/>
            </a:xfrm>
            <a:prstGeom prst="ellipse">
              <a:avLst/>
            </a:prstGeom>
            <a:solidFill>
              <a:srgbClr val="4472C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9" name="pt29"/>
            <p:cNvSpPr/>
            <p:nvPr/>
          </p:nvSpPr>
          <p:spPr>
            <a:xfrm>
              <a:off x="8617646" y="6063817"/>
              <a:ext cx="118223" cy="118223"/>
            </a:xfrm>
            <a:prstGeom prst="ellipse">
              <a:avLst/>
            </a:prstGeom>
            <a:solidFill>
              <a:srgbClr val="4472C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30" name="pg30"/>
            <p:cNvSpPr/>
            <p:nvPr/>
          </p:nvSpPr>
          <p:spPr>
            <a:xfrm>
              <a:off x="791109" y="5923928"/>
              <a:ext cx="118223" cy="118223"/>
            </a:xfrm>
            <a:custGeom>
              <a:avLst/>
              <a:pathLst>
                <a:path w="118223" h="118223">
                  <a:moveTo>
                    <a:pt x="0" y="118223"/>
                  </a:moveTo>
                  <a:lnTo>
                    <a:pt x="118223" y="118223"/>
                  </a:lnTo>
                  <a:lnTo>
                    <a:pt x="118223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D7D31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31" name="pg31"/>
            <p:cNvSpPr/>
            <p:nvPr/>
          </p:nvSpPr>
          <p:spPr>
            <a:xfrm>
              <a:off x="1660724" y="5871904"/>
              <a:ext cx="118223" cy="118223"/>
            </a:xfrm>
            <a:custGeom>
              <a:avLst/>
              <a:pathLst>
                <a:path w="118223" h="118223">
                  <a:moveTo>
                    <a:pt x="0" y="118223"/>
                  </a:moveTo>
                  <a:lnTo>
                    <a:pt x="118223" y="118223"/>
                  </a:lnTo>
                  <a:lnTo>
                    <a:pt x="118223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D7D31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32" name="pg32"/>
            <p:cNvSpPr/>
            <p:nvPr/>
          </p:nvSpPr>
          <p:spPr>
            <a:xfrm>
              <a:off x="3399955" y="5885777"/>
              <a:ext cx="118223" cy="118223"/>
            </a:xfrm>
            <a:custGeom>
              <a:avLst/>
              <a:pathLst>
                <a:path w="118223" h="118223">
                  <a:moveTo>
                    <a:pt x="0" y="118223"/>
                  </a:moveTo>
                  <a:lnTo>
                    <a:pt x="118223" y="118223"/>
                  </a:lnTo>
                  <a:lnTo>
                    <a:pt x="118223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D7D31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33" name="pg33"/>
            <p:cNvSpPr/>
            <p:nvPr/>
          </p:nvSpPr>
          <p:spPr>
            <a:xfrm>
              <a:off x="8617646" y="5916992"/>
              <a:ext cx="118223" cy="118223"/>
            </a:xfrm>
            <a:custGeom>
              <a:avLst/>
              <a:pathLst>
                <a:path w="118223" h="118223">
                  <a:moveTo>
                    <a:pt x="0" y="118223"/>
                  </a:moveTo>
                  <a:lnTo>
                    <a:pt x="118223" y="118223"/>
                  </a:lnTo>
                  <a:lnTo>
                    <a:pt x="118223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D7D31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34" name="tx34"/>
            <p:cNvSpPr/>
            <p:nvPr/>
          </p:nvSpPr>
          <p:spPr>
            <a:xfrm>
              <a:off x="322813" y="6101278"/>
              <a:ext cx="67757" cy="87233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960" i="0" b="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0</a:t>
              </a:r>
            </a:p>
          </p:txBody>
        </p:sp>
        <p:sp>
          <p:nvSpPr>
            <p:cNvPr id="35" name="tx35"/>
            <p:cNvSpPr/>
            <p:nvPr/>
          </p:nvSpPr>
          <p:spPr>
            <a:xfrm>
              <a:off x="255056" y="4945172"/>
              <a:ext cx="135514" cy="87233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960" i="0" b="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10</a:t>
              </a:r>
            </a:p>
          </p:txBody>
        </p:sp>
        <p:sp>
          <p:nvSpPr>
            <p:cNvPr id="36" name="tx36"/>
            <p:cNvSpPr/>
            <p:nvPr/>
          </p:nvSpPr>
          <p:spPr>
            <a:xfrm>
              <a:off x="255056" y="3789065"/>
              <a:ext cx="135514" cy="87233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960" i="0" b="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20</a:t>
              </a:r>
            </a:p>
          </p:txBody>
        </p:sp>
        <p:sp>
          <p:nvSpPr>
            <p:cNvPr id="37" name="tx37"/>
            <p:cNvSpPr/>
            <p:nvPr/>
          </p:nvSpPr>
          <p:spPr>
            <a:xfrm>
              <a:off x="255056" y="2632959"/>
              <a:ext cx="135514" cy="87233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960" i="0" b="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30</a:t>
              </a:r>
            </a:p>
          </p:txBody>
        </p:sp>
        <p:sp>
          <p:nvSpPr>
            <p:cNvPr id="38" name="tx38"/>
            <p:cNvSpPr/>
            <p:nvPr/>
          </p:nvSpPr>
          <p:spPr>
            <a:xfrm>
              <a:off x="255056" y="1476853"/>
              <a:ext cx="135514" cy="87233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960" i="0" b="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40</a:t>
              </a:r>
            </a:p>
          </p:txBody>
        </p:sp>
        <p:sp>
          <p:nvSpPr>
            <p:cNvPr id="39" name="tx39"/>
            <p:cNvSpPr/>
            <p:nvPr/>
          </p:nvSpPr>
          <p:spPr>
            <a:xfrm>
              <a:off x="255056" y="320746"/>
              <a:ext cx="135514" cy="87233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960" i="0" b="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50</a:t>
              </a:r>
            </a:p>
          </p:txBody>
        </p:sp>
        <p:sp>
          <p:nvSpPr>
            <p:cNvPr id="40" name="tx40"/>
            <p:cNvSpPr/>
            <p:nvPr/>
          </p:nvSpPr>
          <p:spPr>
            <a:xfrm>
              <a:off x="816342" y="6490106"/>
              <a:ext cx="67757" cy="87233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960" i="0" b="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5</a:t>
              </a:r>
            </a:p>
          </p:txBody>
        </p:sp>
        <p:sp>
          <p:nvSpPr>
            <p:cNvPr id="41" name="tx41"/>
            <p:cNvSpPr/>
            <p:nvPr/>
          </p:nvSpPr>
          <p:spPr>
            <a:xfrm>
              <a:off x="1652079" y="6490106"/>
              <a:ext cx="135514" cy="87233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960" i="0" b="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10</a:t>
              </a:r>
            </a:p>
          </p:txBody>
        </p:sp>
        <p:sp>
          <p:nvSpPr>
            <p:cNvPr id="42" name="tx42"/>
            <p:cNvSpPr/>
            <p:nvPr/>
          </p:nvSpPr>
          <p:spPr>
            <a:xfrm>
              <a:off x="3391309" y="6490106"/>
              <a:ext cx="135514" cy="87233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960" i="0" b="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20</a:t>
              </a:r>
            </a:p>
          </p:txBody>
        </p:sp>
        <p:sp>
          <p:nvSpPr>
            <p:cNvPr id="43" name="tx43"/>
            <p:cNvSpPr/>
            <p:nvPr/>
          </p:nvSpPr>
          <p:spPr>
            <a:xfrm>
              <a:off x="8609000" y="6490106"/>
              <a:ext cx="135514" cy="87233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960" i="0" b="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50</a:t>
              </a:r>
            </a:p>
          </p:txBody>
        </p:sp>
        <p:sp>
          <p:nvSpPr>
            <p:cNvPr id="44" name="tx44"/>
            <p:cNvSpPr/>
            <p:nvPr/>
          </p:nvSpPr>
          <p:spPr>
            <a:xfrm>
              <a:off x="4458674" y="6640901"/>
              <a:ext cx="609630" cy="10917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1200" i="0" b="1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节点数量 K</a:t>
              </a:r>
            </a:p>
          </p:txBody>
        </p:sp>
        <p:sp>
          <p:nvSpPr>
            <p:cNvPr id="45" name="tx45"/>
            <p:cNvSpPr/>
            <p:nvPr/>
          </p:nvSpPr>
          <p:spPr>
            <a:xfrm rot="-5400000">
              <a:off x="-40945" y="3194259"/>
              <a:ext cx="342900" cy="10917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1200" i="0" b="1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加速比</a:t>
              </a:r>
            </a:p>
          </p:txBody>
        </p:sp>
        <p:sp>
          <p:nvSpPr>
            <p:cNvPr id="46" name="pl46"/>
            <p:cNvSpPr/>
            <p:nvPr/>
          </p:nvSpPr>
          <p:spPr>
            <a:xfrm>
              <a:off x="1396161" y="808339"/>
              <a:ext cx="175564" cy="0"/>
            </a:xfrm>
            <a:custGeom>
              <a:avLst/>
              <a:pathLst>
                <a:path w="175564" h="0">
                  <a:moveTo>
                    <a:pt x="0" y="0"/>
                  </a:moveTo>
                  <a:lnTo>
                    <a:pt x="175564" y="0"/>
                  </a:lnTo>
                </a:path>
              </a:pathLst>
            </a:custGeom>
            <a:ln w="32521" cap="flat">
              <a:solidFill>
                <a:srgbClr val="4472C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" name="pt47"/>
            <p:cNvSpPr/>
            <p:nvPr/>
          </p:nvSpPr>
          <p:spPr>
            <a:xfrm>
              <a:off x="1424832" y="749227"/>
              <a:ext cx="118223" cy="118223"/>
            </a:xfrm>
            <a:prstGeom prst="ellipse">
              <a:avLst/>
            </a:prstGeom>
            <a:solidFill>
              <a:srgbClr val="4472C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48" name="pl48"/>
            <p:cNvSpPr/>
            <p:nvPr/>
          </p:nvSpPr>
          <p:spPr>
            <a:xfrm>
              <a:off x="1396161" y="1027795"/>
              <a:ext cx="175564" cy="0"/>
            </a:xfrm>
            <a:custGeom>
              <a:avLst/>
              <a:pathLst>
                <a:path w="175564" h="0">
                  <a:moveTo>
                    <a:pt x="0" y="0"/>
                  </a:moveTo>
                  <a:lnTo>
                    <a:pt x="175564" y="0"/>
                  </a:lnTo>
                </a:path>
              </a:pathLst>
            </a:custGeom>
            <a:ln w="32521" cap="flat">
              <a:solidFill>
                <a:srgbClr val="A5A5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" name="pl49"/>
            <p:cNvSpPr/>
            <p:nvPr/>
          </p:nvSpPr>
          <p:spPr>
            <a:xfrm>
              <a:off x="1396161" y="1247251"/>
              <a:ext cx="175564" cy="0"/>
            </a:xfrm>
            <a:custGeom>
              <a:avLst/>
              <a:pathLst>
                <a:path w="175564" h="0">
                  <a:moveTo>
                    <a:pt x="0" y="0"/>
                  </a:moveTo>
                  <a:lnTo>
                    <a:pt x="175564" y="0"/>
                  </a:lnTo>
                </a:path>
              </a:pathLst>
            </a:custGeom>
            <a:ln w="32521" cap="flat">
              <a:solidFill>
                <a:srgbClr val="ED7D3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" name="pg50"/>
            <p:cNvSpPr/>
            <p:nvPr/>
          </p:nvSpPr>
          <p:spPr>
            <a:xfrm>
              <a:off x="1424832" y="1188139"/>
              <a:ext cx="118223" cy="118223"/>
            </a:xfrm>
            <a:custGeom>
              <a:avLst/>
              <a:pathLst>
                <a:path w="118223" h="118223">
                  <a:moveTo>
                    <a:pt x="0" y="118223"/>
                  </a:moveTo>
                  <a:lnTo>
                    <a:pt x="118223" y="118223"/>
                  </a:lnTo>
                  <a:lnTo>
                    <a:pt x="118223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D7D31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51" name="tx51"/>
            <p:cNvSpPr/>
            <p:nvPr/>
          </p:nvSpPr>
          <p:spPr>
            <a:xfrm>
              <a:off x="1669587" y="764722"/>
              <a:ext cx="243596" cy="87233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960" i="0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SAE</a:t>
              </a:r>
            </a:p>
          </p:txBody>
        </p:sp>
        <p:sp>
          <p:nvSpPr>
            <p:cNvPr id="52" name="tx52"/>
            <p:cNvSpPr/>
            <p:nvPr/>
          </p:nvSpPr>
          <p:spPr>
            <a:xfrm>
              <a:off x="1669587" y="984178"/>
              <a:ext cx="456742" cy="87233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960" i="0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理想加速比</a:t>
              </a:r>
            </a:p>
          </p:txBody>
        </p:sp>
        <p:sp>
          <p:nvSpPr>
            <p:cNvPr id="53" name="tx53"/>
            <p:cNvSpPr/>
            <p:nvPr/>
          </p:nvSpPr>
          <p:spPr>
            <a:xfrm>
              <a:off x="1669587" y="1203634"/>
              <a:ext cx="365394" cy="87233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960" i="0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一步估计</a:t>
              </a:r>
            </a:p>
          </p:txBody>
        </p:sp>
      </p:grp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 xmlns:pic="http://schemas.openxmlformats.org/drawingml/2006/picture">
        <p:nvGrpSpPr>
          <p:cNvPr id="2" name=""/>
          <p:cNvGrpSpPr/>
          <p:nvPr/>
        </p:nvGrpSpPr>
        <p:grpSpPr>
          <a:xfrm rot="0">
            <a:off x="0" y="0"/>
            <a:ext cx="9144000" cy="6858000"/>
            <a:chOff x="0" y="0"/>
            <a:chExt cx="9144000" cy="6858000"/>
          </a:xfrm>
        </p:grpSpPr>
        <p:sp>
          <p:nvSpPr>
            <p:cNvPr id="3" name="rc3"/>
            <p:cNvSpPr/>
            <p:nvPr/>
          </p:nvSpPr>
          <p:spPr>
            <a:xfrm>
              <a:off x="0" y="0"/>
              <a:ext cx="9144000" cy="6858000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  <a:ln w="9525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" name="rc4"/>
            <p:cNvSpPr/>
            <p:nvPr/>
          </p:nvSpPr>
          <p:spPr>
            <a:xfrm>
              <a:off x="0" y="0"/>
              <a:ext cx="9144000" cy="6858000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5" name="pl5"/>
            <p:cNvSpPr/>
            <p:nvPr/>
          </p:nvSpPr>
          <p:spPr>
            <a:xfrm>
              <a:off x="695998" y="5398032"/>
              <a:ext cx="8372086" cy="0"/>
            </a:xfrm>
            <a:custGeom>
              <a:avLst/>
              <a:pathLst>
                <a:path w="8372086" h="0">
                  <a:moveTo>
                    <a:pt x="0" y="0"/>
                  </a:moveTo>
                  <a:lnTo>
                    <a:pt x="8372086" y="0"/>
                  </a:lnTo>
                  <a:lnTo>
                    <a:pt x="8372086" y="0"/>
                  </a:lnTo>
                </a:path>
              </a:pathLst>
            </a:custGeom>
            <a:ln w="7391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" name="pl6"/>
            <p:cNvSpPr/>
            <p:nvPr/>
          </p:nvSpPr>
          <p:spPr>
            <a:xfrm>
              <a:off x="695998" y="4150975"/>
              <a:ext cx="8372086" cy="0"/>
            </a:xfrm>
            <a:custGeom>
              <a:avLst/>
              <a:pathLst>
                <a:path w="8372086" h="0">
                  <a:moveTo>
                    <a:pt x="0" y="0"/>
                  </a:moveTo>
                  <a:lnTo>
                    <a:pt x="8372086" y="0"/>
                  </a:lnTo>
                  <a:lnTo>
                    <a:pt x="8372086" y="0"/>
                  </a:lnTo>
                </a:path>
              </a:pathLst>
            </a:custGeom>
            <a:ln w="7391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" name="pl7"/>
            <p:cNvSpPr/>
            <p:nvPr/>
          </p:nvSpPr>
          <p:spPr>
            <a:xfrm>
              <a:off x="695998" y="2903918"/>
              <a:ext cx="8372086" cy="0"/>
            </a:xfrm>
            <a:custGeom>
              <a:avLst/>
              <a:pathLst>
                <a:path w="8372086" h="0">
                  <a:moveTo>
                    <a:pt x="0" y="0"/>
                  </a:moveTo>
                  <a:lnTo>
                    <a:pt x="8372086" y="0"/>
                  </a:lnTo>
                  <a:lnTo>
                    <a:pt x="8372086" y="0"/>
                  </a:lnTo>
                </a:path>
              </a:pathLst>
            </a:custGeom>
            <a:ln w="7391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" name="pl8"/>
            <p:cNvSpPr/>
            <p:nvPr/>
          </p:nvSpPr>
          <p:spPr>
            <a:xfrm>
              <a:off x="695998" y="1656861"/>
              <a:ext cx="8372086" cy="0"/>
            </a:xfrm>
            <a:custGeom>
              <a:avLst/>
              <a:pathLst>
                <a:path w="8372086" h="0">
                  <a:moveTo>
                    <a:pt x="0" y="0"/>
                  </a:moveTo>
                  <a:lnTo>
                    <a:pt x="8372086" y="0"/>
                  </a:lnTo>
                  <a:lnTo>
                    <a:pt x="8372086" y="0"/>
                  </a:lnTo>
                </a:path>
              </a:pathLst>
            </a:custGeom>
            <a:ln w="7391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" name="pl9"/>
            <p:cNvSpPr/>
            <p:nvPr/>
          </p:nvSpPr>
          <p:spPr>
            <a:xfrm>
              <a:off x="695998" y="6021560"/>
              <a:ext cx="8372086" cy="0"/>
            </a:xfrm>
            <a:custGeom>
              <a:avLst/>
              <a:pathLst>
                <a:path w="8372086" h="0">
                  <a:moveTo>
                    <a:pt x="0" y="0"/>
                  </a:moveTo>
                  <a:lnTo>
                    <a:pt x="8372086" y="0"/>
                  </a:lnTo>
                  <a:lnTo>
                    <a:pt x="8372086" y="0"/>
                  </a:lnTo>
                </a:path>
              </a:pathLst>
            </a:custGeom>
            <a:ln w="14782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" name="pl10"/>
            <p:cNvSpPr/>
            <p:nvPr/>
          </p:nvSpPr>
          <p:spPr>
            <a:xfrm>
              <a:off x="695998" y="4774503"/>
              <a:ext cx="8372086" cy="0"/>
            </a:xfrm>
            <a:custGeom>
              <a:avLst/>
              <a:pathLst>
                <a:path w="8372086" h="0">
                  <a:moveTo>
                    <a:pt x="0" y="0"/>
                  </a:moveTo>
                  <a:lnTo>
                    <a:pt x="8372086" y="0"/>
                  </a:lnTo>
                  <a:lnTo>
                    <a:pt x="8372086" y="0"/>
                  </a:lnTo>
                </a:path>
              </a:pathLst>
            </a:custGeom>
            <a:ln w="14782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" name="pl11"/>
            <p:cNvSpPr/>
            <p:nvPr/>
          </p:nvSpPr>
          <p:spPr>
            <a:xfrm>
              <a:off x="695998" y="3527446"/>
              <a:ext cx="8372086" cy="0"/>
            </a:xfrm>
            <a:custGeom>
              <a:avLst/>
              <a:pathLst>
                <a:path w="8372086" h="0">
                  <a:moveTo>
                    <a:pt x="0" y="0"/>
                  </a:moveTo>
                  <a:lnTo>
                    <a:pt x="8372086" y="0"/>
                  </a:lnTo>
                  <a:lnTo>
                    <a:pt x="8372086" y="0"/>
                  </a:lnTo>
                </a:path>
              </a:pathLst>
            </a:custGeom>
            <a:ln w="14782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" name="pl12"/>
            <p:cNvSpPr/>
            <p:nvPr/>
          </p:nvSpPr>
          <p:spPr>
            <a:xfrm>
              <a:off x="695998" y="2280389"/>
              <a:ext cx="8372086" cy="0"/>
            </a:xfrm>
            <a:custGeom>
              <a:avLst/>
              <a:pathLst>
                <a:path w="8372086" h="0">
                  <a:moveTo>
                    <a:pt x="0" y="0"/>
                  </a:moveTo>
                  <a:lnTo>
                    <a:pt x="8372086" y="0"/>
                  </a:lnTo>
                  <a:lnTo>
                    <a:pt x="8372086" y="0"/>
                  </a:lnTo>
                </a:path>
              </a:pathLst>
            </a:custGeom>
            <a:ln w="14782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" name="pl13"/>
            <p:cNvSpPr/>
            <p:nvPr/>
          </p:nvSpPr>
          <p:spPr>
            <a:xfrm>
              <a:off x="695998" y="1033332"/>
              <a:ext cx="8372086" cy="0"/>
            </a:xfrm>
            <a:custGeom>
              <a:avLst/>
              <a:pathLst>
                <a:path w="8372086" h="0">
                  <a:moveTo>
                    <a:pt x="0" y="0"/>
                  </a:moveTo>
                  <a:lnTo>
                    <a:pt x="8372086" y="0"/>
                  </a:lnTo>
                  <a:lnTo>
                    <a:pt x="8372086" y="0"/>
                  </a:lnTo>
                </a:path>
              </a:pathLst>
            </a:custGeom>
            <a:ln w="14782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" name="pl14"/>
            <p:cNvSpPr/>
            <p:nvPr/>
          </p:nvSpPr>
          <p:spPr>
            <a:xfrm>
              <a:off x="1506200" y="599032"/>
              <a:ext cx="0" cy="5680744"/>
            </a:xfrm>
            <a:custGeom>
              <a:avLst/>
              <a:pathLst>
                <a:path w="0" h="5680744">
                  <a:moveTo>
                    <a:pt x="0" y="5680744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4782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" name="pl15"/>
            <p:cNvSpPr/>
            <p:nvPr/>
          </p:nvSpPr>
          <p:spPr>
            <a:xfrm>
              <a:off x="2856536" y="599032"/>
              <a:ext cx="0" cy="5680744"/>
            </a:xfrm>
            <a:custGeom>
              <a:avLst/>
              <a:pathLst>
                <a:path w="0" h="5680744">
                  <a:moveTo>
                    <a:pt x="0" y="5680744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4782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" name="pl16"/>
            <p:cNvSpPr/>
            <p:nvPr/>
          </p:nvSpPr>
          <p:spPr>
            <a:xfrm>
              <a:off x="4206873" y="599032"/>
              <a:ext cx="0" cy="5680744"/>
            </a:xfrm>
            <a:custGeom>
              <a:avLst/>
              <a:pathLst>
                <a:path w="0" h="5680744">
                  <a:moveTo>
                    <a:pt x="0" y="5680744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4782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" name="pl17"/>
            <p:cNvSpPr/>
            <p:nvPr/>
          </p:nvSpPr>
          <p:spPr>
            <a:xfrm>
              <a:off x="5557209" y="599032"/>
              <a:ext cx="0" cy="5680744"/>
            </a:xfrm>
            <a:custGeom>
              <a:avLst/>
              <a:pathLst>
                <a:path w="0" h="5680744">
                  <a:moveTo>
                    <a:pt x="0" y="5680744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4782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" name="pl18"/>
            <p:cNvSpPr/>
            <p:nvPr/>
          </p:nvSpPr>
          <p:spPr>
            <a:xfrm>
              <a:off x="6907546" y="599032"/>
              <a:ext cx="0" cy="5680744"/>
            </a:xfrm>
            <a:custGeom>
              <a:avLst/>
              <a:pathLst>
                <a:path w="0" h="5680744">
                  <a:moveTo>
                    <a:pt x="0" y="5680744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4782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" name="pl19"/>
            <p:cNvSpPr/>
            <p:nvPr/>
          </p:nvSpPr>
          <p:spPr>
            <a:xfrm>
              <a:off x="8257882" y="599032"/>
              <a:ext cx="0" cy="5680744"/>
            </a:xfrm>
            <a:custGeom>
              <a:avLst/>
              <a:pathLst>
                <a:path w="0" h="5680744">
                  <a:moveTo>
                    <a:pt x="0" y="5680744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4782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" name="rc20"/>
            <p:cNvSpPr/>
            <p:nvPr/>
          </p:nvSpPr>
          <p:spPr>
            <a:xfrm>
              <a:off x="3599221" y="1270772"/>
              <a:ext cx="1215302" cy="4750788"/>
            </a:xfrm>
            <a:prstGeom prst="rect">
              <a:avLst/>
            </a:prstGeom>
            <a:solidFill>
              <a:srgbClr val="4472C4">
                <a:alpha val="100000"/>
              </a:srgbClr>
            </a:solidFill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21" name="rc21"/>
            <p:cNvSpPr/>
            <p:nvPr/>
          </p:nvSpPr>
          <p:spPr>
            <a:xfrm>
              <a:off x="898548" y="857248"/>
              <a:ext cx="1215302" cy="5164312"/>
            </a:xfrm>
            <a:prstGeom prst="rect">
              <a:avLst/>
            </a:prstGeom>
            <a:solidFill>
              <a:srgbClr val="4472C4">
                <a:alpha val="100000"/>
              </a:srgbClr>
            </a:solidFill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22" name="rc22"/>
            <p:cNvSpPr/>
            <p:nvPr/>
          </p:nvSpPr>
          <p:spPr>
            <a:xfrm>
              <a:off x="2248885" y="981953"/>
              <a:ext cx="1215302" cy="5039607"/>
            </a:xfrm>
            <a:prstGeom prst="rect">
              <a:avLst/>
            </a:prstGeom>
            <a:solidFill>
              <a:srgbClr val="4472C4">
                <a:alpha val="100000"/>
              </a:srgbClr>
            </a:solidFill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23" name="rc23"/>
            <p:cNvSpPr/>
            <p:nvPr/>
          </p:nvSpPr>
          <p:spPr>
            <a:xfrm>
              <a:off x="7650231" y="4043229"/>
              <a:ext cx="1215302" cy="1978331"/>
            </a:xfrm>
            <a:prstGeom prst="rect">
              <a:avLst/>
            </a:prstGeom>
            <a:solidFill>
              <a:srgbClr val="ED7D31">
                <a:alpha val="100000"/>
              </a:srgbClr>
            </a:solidFill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24" name="rc24"/>
            <p:cNvSpPr/>
            <p:nvPr/>
          </p:nvSpPr>
          <p:spPr>
            <a:xfrm>
              <a:off x="4949558" y="3976886"/>
              <a:ext cx="1215302" cy="2044674"/>
            </a:xfrm>
            <a:prstGeom prst="rect">
              <a:avLst/>
            </a:prstGeom>
            <a:solidFill>
              <a:srgbClr val="ED7D31">
                <a:alpha val="100000"/>
              </a:srgbClr>
            </a:solidFill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25" name="rc25"/>
            <p:cNvSpPr/>
            <p:nvPr/>
          </p:nvSpPr>
          <p:spPr>
            <a:xfrm>
              <a:off x="6299894" y="4021780"/>
              <a:ext cx="1215302" cy="1999780"/>
            </a:xfrm>
            <a:prstGeom prst="rect">
              <a:avLst/>
            </a:prstGeom>
            <a:solidFill>
              <a:srgbClr val="ED7D31">
                <a:alpha val="100000"/>
              </a:srgbClr>
            </a:solidFill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26" name="tx26"/>
            <p:cNvSpPr/>
            <p:nvPr/>
          </p:nvSpPr>
          <p:spPr>
            <a:xfrm>
              <a:off x="4041183" y="1154323"/>
              <a:ext cx="331378" cy="7763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53" i="0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0.0095</a:t>
              </a:r>
            </a:p>
          </p:txBody>
        </p:sp>
        <p:sp>
          <p:nvSpPr>
            <p:cNvPr id="27" name="tx27"/>
            <p:cNvSpPr/>
            <p:nvPr/>
          </p:nvSpPr>
          <p:spPr>
            <a:xfrm>
              <a:off x="1340510" y="740799"/>
              <a:ext cx="331378" cy="7763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53" i="0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0.0104</a:t>
              </a:r>
            </a:p>
          </p:txBody>
        </p:sp>
        <p:sp>
          <p:nvSpPr>
            <p:cNvPr id="28" name="tx28"/>
            <p:cNvSpPr/>
            <p:nvPr/>
          </p:nvSpPr>
          <p:spPr>
            <a:xfrm>
              <a:off x="2690847" y="865505"/>
              <a:ext cx="331378" cy="7763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53" i="0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0.0101</a:t>
              </a:r>
            </a:p>
          </p:txBody>
        </p:sp>
        <p:sp>
          <p:nvSpPr>
            <p:cNvPr id="29" name="tx29"/>
            <p:cNvSpPr/>
            <p:nvPr/>
          </p:nvSpPr>
          <p:spPr>
            <a:xfrm>
              <a:off x="8092193" y="3926780"/>
              <a:ext cx="331378" cy="7763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53" i="0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0.0040</a:t>
              </a:r>
            </a:p>
          </p:txBody>
        </p:sp>
        <p:sp>
          <p:nvSpPr>
            <p:cNvPr id="30" name="tx30"/>
            <p:cNvSpPr/>
            <p:nvPr/>
          </p:nvSpPr>
          <p:spPr>
            <a:xfrm>
              <a:off x="5391520" y="3860437"/>
              <a:ext cx="331378" cy="7763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53" i="0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0.0041</a:t>
              </a:r>
            </a:p>
          </p:txBody>
        </p:sp>
        <p:sp>
          <p:nvSpPr>
            <p:cNvPr id="31" name="tx31"/>
            <p:cNvSpPr/>
            <p:nvPr/>
          </p:nvSpPr>
          <p:spPr>
            <a:xfrm>
              <a:off x="6741856" y="3905331"/>
              <a:ext cx="331378" cy="7763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53" i="0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0.0040</a:t>
              </a:r>
            </a:p>
          </p:txBody>
        </p:sp>
        <p:sp>
          <p:nvSpPr>
            <p:cNvPr id="32" name="tx32"/>
            <p:cNvSpPr/>
            <p:nvPr/>
          </p:nvSpPr>
          <p:spPr>
            <a:xfrm>
              <a:off x="255056" y="5977944"/>
              <a:ext cx="372618" cy="87233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960" i="0" b="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0.0000</a:t>
              </a:r>
            </a:p>
          </p:txBody>
        </p:sp>
        <p:sp>
          <p:nvSpPr>
            <p:cNvPr id="33" name="tx33"/>
            <p:cNvSpPr/>
            <p:nvPr/>
          </p:nvSpPr>
          <p:spPr>
            <a:xfrm>
              <a:off x="255056" y="4730887"/>
              <a:ext cx="372618" cy="87233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960" i="0" b="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0.0025</a:t>
              </a:r>
            </a:p>
          </p:txBody>
        </p:sp>
        <p:sp>
          <p:nvSpPr>
            <p:cNvPr id="34" name="tx34"/>
            <p:cNvSpPr/>
            <p:nvPr/>
          </p:nvSpPr>
          <p:spPr>
            <a:xfrm>
              <a:off x="255056" y="3483829"/>
              <a:ext cx="372618" cy="87233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960" i="0" b="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0.0050</a:t>
              </a:r>
            </a:p>
          </p:txBody>
        </p:sp>
        <p:sp>
          <p:nvSpPr>
            <p:cNvPr id="35" name="tx35"/>
            <p:cNvSpPr/>
            <p:nvPr/>
          </p:nvSpPr>
          <p:spPr>
            <a:xfrm>
              <a:off x="255056" y="2236772"/>
              <a:ext cx="372618" cy="87233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960" i="0" b="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0.0075</a:t>
              </a:r>
            </a:p>
          </p:txBody>
        </p:sp>
        <p:sp>
          <p:nvSpPr>
            <p:cNvPr id="36" name="tx36"/>
            <p:cNvSpPr/>
            <p:nvPr/>
          </p:nvSpPr>
          <p:spPr>
            <a:xfrm>
              <a:off x="255056" y="989715"/>
              <a:ext cx="372618" cy="87233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960" i="0" b="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0.0100</a:t>
              </a:r>
            </a:p>
          </p:txBody>
        </p:sp>
        <p:sp>
          <p:nvSpPr>
            <p:cNvPr id="37" name="tx37"/>
            <p:cNvSpPr/>
            <p:nvPr/>
          </p:nvSpPr>
          <p:spPr>
            <a:xfrm>
              <a:off x="1349014" y="6348100"/>
              <a:ext cx="314370" cy="9098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1000" i="0" b="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γ=0.6</a:t>
              </a:r>
            </a:p>
          </p:txBody>
        </p:sp>
        <p:sp>
          <p:nvSpPr>
            <p:cNvPr id="38" name="tx38"/>
            <p:cNvSpPr/>
            <p:nvPr/>
          </p:nvSpPr>
          <p:spPr>
            <a:xfrm>
              <a:off x="1356101" y="6485260"/>
              <a:ext cx="300197" cy="9098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1000" i="0" b="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S=10</a:t>
              </a:r>
            </a:p>
          </p:txBody>
        </p:sp>
        <p:sp>
          <p:nvSpPr>
            <p:cNvPr id="39" name="tx39"/>
            <p:cNvSpPr/>
            <p:nvPr/>
          </p:nvSpPr>
          <p:spPr>
            <a:xfrm>
              <a:off x="2699351" y="6348100"/>
              <a:ext cx="314370" cy="9098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1000" i="0" b="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γ=0.6</a:t>
              </a:r>
            </a:p>
          </p:txBody>
        </p:sp>
        <p:sp>
          <p:nvSpPr>
            <p:cNvPr id="40" name="tx40"/>
            <p:cNvSpPr/>
            <p:nvPr/>
          </p:nvSpPr>
          <p:spPr>
            <a:xfrm>
              <a:off x="2706437" y="6485260"/>
              <a:ext cx="300197" cy="9098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1000" i="0" b="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S=20</a:t>
              </a:r>
            </a:p>
          </p:txBody>
        </p:sp>
        <p:sp>
          <p:nvSpPr>
            <p:cNvPr id="41" name="tx41"/>
            <p:cNvSpPr/>
            <p:nvPr/>
          </p:nvSpPr>
          <p:spPr>
            <a:xfrm>
              <a:off x="4049687" y="6348100"/>
              <a:ext cx="314370" cy="9098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1000" i="0" b="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γ=0.6</a:t>
              </a:r>
            </a:p>
          </p:txBody>
        </p:sp>
        <p:sp>
          <p:nvSpPr>
            <p:cNvPr id="42" name="tx42"/>
            <p:cNvSpPr/>
            <p:nvPr/>
          </p:nvSpPr>
          <p:spPr>
            <a:xfrm>
              <a:off x="4092115" y="6485260"/>
              <a:ext cx="229514" cy="9098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1000" i="0" b="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S=5</a:t>
              </a:r>
            </a:p>
          </p:txBody>
        </p:sp>
        <p:sp>
          <p:nvSpPr>
            <p:cNvPr id="43" name="tx43"/>
            <p:cNvSpPr/>
            <p:nvPr/>
          </p:nvSpPr>
          <p:spPr>
            <a:xfrm>
              <a:off x="5400024" y="6348100"/>
              <a:ext cx="314370" cy="9098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1000" i="0" b="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γ=0.7</a:t>
              </a:r>
            </a:p>
          </p:txBody>
        </p:sp>
        <p:sp>
          <p:nvSpPr>
            <p:cNvPr id="44" name="tx44"/>
            <p:cNvSpPr/>
            <p:nvPr/>
          </p:nvSpPr>
          <p:spPr>
            <a:xfrm>
              <a:off x="5407110" y="6485260"/>
              <a:ext cx="300197" cy="9098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1000" i="0" b="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S=10</a:t>
              </a:r>
            </a:p>
          </p:txBody>
        </p:sp>
        <p:sp>
          <p:nvSpPr>
            <p:cNvPr id="45" name="tx45"/>
            <p:cNvSpPr/>
            <p:nvPr/>
          </p:nvSpPr>
          <p:spPr>
            <a:xfrm>
              <a:off x="6750360" y="6348100"/>
              <a:ext cx="314370" cy="9098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1000" i="0" b="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γ=0.7</a:t>
              </a:r>
            </a:p>
          </p:txBody>
        </p:sp>
        <p:sp>
          <p:nvSpPr>
            <p:cNvPr id="46" name="tx46"/>
            <p:cNvSpPr/>
            <p:nvPr/>
          </p:nvSpPr>
          <p:spPr>
            <a:xfrm>
              <a:off x="6757447" y="6485260"/>
              <a:ext cx="300197" cy="9098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1000" i="0" b="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S=20</a:t>
              </a:r>
            </a:p>
          </p:txBody>
        </p:sp>
        <p:sp>
          <p:nvSpPr>
            <p:cNvPr id="47" name="tx47"/>
            <p:cNvSpPr/>
            <p:nvPr/>
          </p:nvSpPr>
          <p:spPr>
            <a:xfrm>
              <a:off x="8100697" y="6348100"/>
              <a:ext cx="314370" cy="9098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1000" i="0" b="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γ=0.7</a:t>
              </a:r>
            </a:p>
          </p:txBody>
        </p:sp>
        <p:sp>
          <p:nvSpPr>
            <p:cNvPr id="48" name="tx48"/>
            <p:cNvSpPr/>
            <p:nvPr/>
          </p:nvSpPr>
          <p:spPr>
            <a:xfrm>
              <a:off x="8143125" y="6485260"/>
              <a:ext cx="229514" cy="9098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1000" i="0" b="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S=5</a:t>
              </a:r>
            </a:p>
          </p:txBody>
        </p:sp>
        <p:sp>
          <p:nvSpPr>
            <p:cNvPr id="49" name="tx49"/>
            <p:cNvSpPr/>
            <p:nvPr/>
          </p:nvSpPr>
          <p:spPr>
            <a:xfrm>
              <a:off x="4653441" y="6640901"/>
              <a:ext cx="457200" cy="10917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1200" i="0" b="1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参数配置</a:t>
              </a:r>
            </a:p>
          </p:txBody>
        </p:sp>
        <p:sp>
          <p:nvSpPr>
            <p:cNvPr id="50" name="tx50"/>
            <p:cNvSpPr/>
            <p:nvPr/>
          </p:nvSpPr>
          <p:spPr>
            <a:xfrm rot="-5400000">
              <a:off x="-155245" y="3384814"/>
              <a:ext cx="571500" cy="10917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1200" i="0" b="1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估计量方差</a:t>
              </a:r>
            </a:p>
          </p:txBody>
        </p:sp>
        <p:sp>
          <p:nvSpPr>
            <p:cNvPr id="51" name="rc51"/>
            <p:cNvSpPr/>
            <p:nvPr/>
          </p:nvSpPr>
          <p:spPr>
            <a:xfrm>
              <a:off x="4256326" y="160830"/>
              <a:ext cx="201456" cy="201455"/>
            </a:xfrm>
            <a:prstGeom prst="rect">
              <a:avLst/>
            </a:prstGeom>
            <a:solidFill>
              <a:srgbClr val="4472C4">
                <a:alpha val="100000"/>
              </a:srgbClr>
            </a:solidFill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52" name="rc52"/>
            <p:cNvSpPr/>
            <p:nvPr/>
          </p:nvSpPr>
          <p:spPr>
            <a:xfrm>
              <a:off x="4928999" y="160830"/>
              <a:ext cx="201456" cy="201455"/>
            </a:xfrm>
            <a:prstGeom prst="rect">
              <a:avLst/>
            </a:prstGeom>
            <a:solidFill>
              <a:srgbClr val="ED7D31">
                <a:alpha val="100000"/>
              </a:srgbClr>
            </a:solidFill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53" name="tx53"/>
            <p:cNvSpPr/>
            <p:nvPr/>
          </p:nvSpPr>
          <p:spPr>
            <a:xfrm>
              <a:off x="4542697" y="217941"/>
              <a:ext cx="301386" cy="87233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960" i="0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γ=0.6</a:t>
              </a:r>
            </a:p>
          </p:txBody>
        </p:sp>
        <p:sp>
          <p:nvSpPr>
            <p:cNvPr id="54" name="tx54"/>
            <p:cNvSpPr/>
            <p:nvPr/>
          </p:nvSpPr>
          <p:spPr>
            <a:xfrm>
              <a:off x="5215370" y="217941"/>
              <a:ext cx="301386" cy="87233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960" i="0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γ=0.7</a:t>
              </a:r>
            </a:p>
          </p:txBody>
        </p:sp>
      </p:grp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 xmlns:pic="http://schemas.openxmlformats.org/drawingml/2006/picture">
        <p:nvGrpSpPr>
          <p:cNvPr id="2" name=""/>
          <p:cNvGrpSpPr/>
          <p:nvPr/>
        </p:nvGrpSpPr>
        <p:grpSpPr>
          <a:xfrm rot="0">
            <a:off x="0" y="0"/>
            <a:ext cx="9144000" cy="6858000"/>
            <a:chOff x="0" y="0"/>
            <a:chExt cx="9144000" cy="6858000"/>
          </a:xfrm>
        </p:grpSpPr>
        <p:sp>
          <p:nvSpPr>
            <p:cNvPr id="3" name="rc3"/>
            <p:cNvSpPr/>
            <p:nvPr/>
          </p:nvSpPr>
          <p:spPr>
            <a:xfrm>
              <a:off x="0" y="0"/>
              <a:ext cx="9144000" cy="6858000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  <a:ln w="9525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" name="rc4"/>
            <p:cNvSpPr/>
            <p:nvPr/>
          </p:nvSpPr>
          <p:spPr>
            <a:xfrm>
              <a:off x="0" y="0"/>
              <a:ext cx="9143999" cy="6858000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5" name="pl5"/>
            <p:cNvSpPr/>
            <p:nvPr/>
          </p:nvSpPr>
          <p:spPr>
            <a:xfrm>
              <a:off x="628241" y="5821391"/>
              <a:ext cx="7268396" cy="0"/>
            </a:xfrm>
            <a:custGeom>
              <a:avLst/>
              <a:pathLst>
                <a:path w="7268396" h="0">
                  <a:moveTo>
                    <a:pt x="0" y="0"/>
                  </a:moveTo>
                  <a:lnTo>
                    <a:pt x="7268396" y="0"/>
                  </a:lnTo>
                  <a:lnTo>
                    <a:pt x="7268396" y="0"/>
                  </a:lnTo>
                </a:path>
              </a:pathLst>
            </a:custGeom>
            <a:ln w="7391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" name="pl6"/>
            <p:cNvSpPr/>
            <p:nvPr/>
          </p:nvSpPr>
          <p:spPr>
            <a:xfrm>
              <a:off x="628241" y="4446713"/>
              <a:ext cx="7268396" cy="0"/>
            </a:xfrm>
            <a:custGeom>
              <a:avLst/>
              <a:pathLst>
                <a:path w="7268396" h="0">
                  <a:moveTo>
                    <a:pt x="0" y="0"/>
                  </a:moveTo>
                  <a:lnTo>
                    <a:pt x="7268396" y="0"/>
                  </a:lnTo>
                  <a:lnTo>
                    <a:pt x="7268396" y="0"/>
                  </a:lnTo>
                </a:path>
              </a:pathLst>
            </a:custGeom>
            <a:ln w="7391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" name="pl7"/>
            <p:cNvSpPr/>
            <p:nvPr/>
          </p:nvSpPr>
          <p:spPr>
            <a:xfrm>
              <a:off x="628241" y="3072035"/>
              <a:ext cx="7268396" cy="0"/>
            </a:xfrm>
            <a:custGeom>
              <a:avLst/>
              <a:pathLst>
                <a:path w="7268396" h="0">
                  <a:moveTo>
                    <a:pt x="0" y="0"/>
                  </a:moveTo>
                  <a:lnTo>
                    <a:pt x="7268396" y="0"/>
                  </a:lnTo>
                  <a:lnTo>
                    <a:pt x="7268396" y="0"/>
                  </a:lnTo>
                </a:path>
              </a:pathLst>
            </a:custGeom>
            <a:ln w="7391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" name="pl8"/>
            <p:cNvSpPr/>
            <p:nvPr/>
          </p:nvSpPr>
          <p:spPr>
            <a:xfrm>
              <a:off x="628241" y="1697357"/>
              <a:ext cx="7268396" cy="0"/>
            </a:xfrm>
            <a:custGeom>
              <a:avLst/>
              <a:pathLst>
                <a:path w="7268396" h="0">
                  <a:moveTo>
                    <a:pt x="0" y="0"/>
                  </a:moveTo>
                  <a:lnTo>
                    <a:pt x="7268396" y="0"/>
                  </a:lnTo>
                  <a:lnTo>
                    <a:pt x="7268396" y="0"/>
                  </a:lnTo>
                </a:path>
              </a:pathLst>
            </a:custGeom>
            <a:ln w="7391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" name="pl9"/>
            <p:cNvSpPr/>
            <p:nvPr/>
          </p:nvSpPr>
          <p:spPr>
            <a:xfrm>
              <a:off x="628241" y="322679"/>
              <a:ext cx="7268396" cy="0"/>
            </a:xfrm>
            <a:custGeom>
              <a:avLst/>
              <a:pathLst>
                <a:path w="7268396" h="0">
                  <a:moveTo>
                    <a:pt x="0" y="0"/>
                  </a:moveTo>
                  <a:lnTo>
                    <a:pt x="7268396" y="0"/>
                  </a:lnTo>
                  <a:lnTo>
                    <a:pt x="7268396" y="0"/>
                  </a:lnTo>
                </a:path>
              </a:pathLst>
            </a:custGeom>
            <a:ln w="7391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" name="pl10"/>
            <p:cNvSpPr/>
            <p:nvPr/>
          </p:nvSpPr>
          <p:spPr>
            <a:xfrm>
              <a:off x="1619386" y="75915"/>
              <a:ext cx="0" cy="6345867"/>
            </a:xfrm>
            <a:custGeom>
              <a:avLst/>
              <a:pathLst>
                <a:path w="0" h="6345867">
                  <a:moveTo>
                    <a:pt x="0" y="6345867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7391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" name="pl11"/>
            <p:cNvSpPr/>
            <p:nvPr/>
          </p:nvSpPr>
          <p:spPr>
            <a:xfrm>
              <a:off x="2940912" y="75915"/>
              <a:ext cx="0" cy="6345867"/>
            </a:xfrm>
            <a:custGeom>
              <a:avLst/>
              <a:pathLst>
                <a:path w="0" h="6345867">
                  <a:moveTo>
                    <a:pt x="0" y="6345867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7391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" name="pl12"/>
            <p:cNvSpPr/>
            <p:nvPr/>
          </p:nvSpPr>
          <p:spPr>
            <a:xfrm>
              <a:off x="4262439" y="75915"/>
              <a:ext cx="0" cy="6345867"/>
            </a:xfrm>
            <a:custGeom>
              <a:avLst/>
              <a:pathLst>
                <a:path w="0" h="6345867">
                  <a:moveTo>
                    <a:pt x="0" y="6345867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7391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" name="pl13"/>
            <p:cNvSpPr/>
            <p:nvPr/>
          </p:nvSpPr>
          <p:spPr>
            <a:xfrm>
              <a:off x="5583966" y="75915"/>
              <a:ext cx="0" cy="6345867"/>
            </a:xfrm>
            <a:custGeom>
              <a:avLst/>
              <a:pathLst>
                <a:path w="0" h="6345867">
                  <a:moveTo>
                    <a:pt x="0" y="6345867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7391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" name="pl14"/>
            <p:cNvSpPr/>
            <p:nvPr/>
          </p:nvSpPr>
          <p:spPr>
            <a:xfrm>
              <a:off x="6905492" y="75915"/>
              <a:ext cx="0" cy="6345867"/>
            </a:xfrm>
            <a:custGeom>
              <a:avLst/>
              <a:pathLst>
                <a:path w="0" h="6345867">
                  <a:moveTo>
                    <a:pt x="0" y="6345867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7391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" name="pl15"/>
            <p:cNvSpPr/>
            <p:nvPr/>
          </p:nvSpPr>
          <p:spPr>
            <a:xfrm>
              <a:off x="628241" y="5134052"/>
              <a:ext cx="7268396" cy="0"/>
            </a:xfrm>
            <a:custGeom>
              <a:avLst/>
              <a:pathLst>
                <a:path w="7268396" h="0">
                  <a:moveTo>
                    <a:pt x="0" y="0"/>
                  </a:moveTo>
                  <a:lnTo>
                    <a:pt x="7268396" y="0"/>
                  </a:lnTo>
                  <a:lnTo>
                    <a:pt x="7268396" y="0"/>
                  </a:lnTo>
                </a:path>
              </a:pathLst>
            </a:custGeom>
            <a:ln w="14782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" name="pl16"/>
            <p:cNvSpPr/>
            <p:nvPr/>
          </p:nvSpPr>
          <p:spPr>
            <a:xfrm>
              <a:off x="628241" y="3759374"/>
              <a:ext cx="7268396" cy="0"/>
            </a:xfrm>
            <a:custGeom>
              <a:avLst/>
              <a:pathLst>
                <a:path w="7268396" h="0">
                  <a:moveTo>
                    <a:pt x="0" y="0"/>
                  </a:moveTo>
                  <a:lnTo>
                    <a:pt x="7268396" y="0"/>
                  </a:lnTo>
                  <a:lnTo>
                    <a:pt x="7268396" y="0"/>
                  </a:lnTo>
                </a:path>
              </a:pathLst>
            </a:custGeom>
            <a:ln w="14782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" name="pl17"/>
            <p:cNvSpPr/>
            <p:nvPr/>
          </p:nvSpPr>
          <p:spPr>
            <a:xfrm>
              <a:off x="628241" y="2384696"/>
              <a:ext cx="7268396" cy="0"/>
            </a:xfrm>
            <a:custGeom>
              <a:avLst/>
              <a:pathLst>
                <a:path w="7268396" h="0">
                  <a:moveTo>
                    <a:pt x="0" y="0"/>
                  </a:moveTo>
                  <a:lnTo>
                    <a:pt x="7268396" y="0"/>
                  </a:lnTo>
                  <a:lnTo>
                    <a:pt x="7268396" y="0"/>
                  </a:lnTo>
                </a:path>
              </a:pathLst>
            </a:custGeom>
            <a:ln w="14782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" name="pl18"/>
            <p:cNvSpPr/>
            <p:nvPr/>
          </p:nvSpPr>
          <p:spPr>
            <a:xfrm>
              <a:off x="628241" y="1010018"/>
              <a:ext cx="7268396" cy="0"/>
            </a:xfrm>
            <a:custGeom>
              <a:avLst/>
              <a:pathLst>
                <a:path w="7268396" h="0">
                  <a:moveTo>
                    <a:pt x="0" y="0"/>
                  </a:moveTo>
                  <a:lnTo>
                    <a:pt x="7268396" y="0"/>
                  </a:lnTo>
                  <a:lnTo>
                    <a:pt x="7268396" y="0"/>
                  </a:lnTo>
                </a:path>
              </a:pathLst>
            </a:custGeom>
            <a:ln w="14782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" name="pl19"/>
            <p:cNvSpPr/>
            <p:nvPr/>
          </p:nvSpPr>
          <p:spPr>
            <a:xfrm>
              <a:off x="958622" y="75915"/>
              <a:ext cx="0" cy="6345867"/>
            </a:xfrm>
            <a:custGeom>
              <a:avLst/>
              <a:pathLst>
                <a:path w="0" h="6345867">
                  <a:moveTo>
                    <a:pt x="0" y="6345867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4782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" name="pl20"/>
            <p:cNvSpPr/>
            <p:nvPr/>
          </p:nvSpPr>
          <p:spPr>
            <a:xfrm>
              <a:off x="2280149" y="75915"/>
              <a:ext cx="0" cy="6345867"/>
            </a:xfrm>
            <a:custGeom>
              <a:avLst/>
              <a:pathLst>
                <a:path w="0" h="6345867">
                  <a:moveTo>
                    <a:pt x="0" y="6345867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4782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" name="pl21"/>
            <p:cNvSpPr/>
            <p:nvPr/>
          </p:nvSpPr>
          <p:spPr>
            <a:xfrm>
              <a:off x="3601676" y="75915"/>
              <a:ext cx="0" cy="6345867"/>
            </a:xfrm>
            <a:custGeom>
              <a:avLst/>
              <a:pathLst>
                <a:path w="0" h="6345867">
                  <a:moveTo>
                    <a:pt x="0" y="6345867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4782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" name="pl22"/>
            <p:cNvSpPr/>
            <p:nvPr/>
          </p:nvSpPr>
          <p:spPr>
            <a:xfrm>
              <a:off x="4923202" y="75915"/>
              <a:ext cx="0" cy="6345867"/>
            </a:xfrm>
            <a:custGeom>
              <a:avLst/>
              <a:pathLst>
                <a:path w="0" h="6345867">
                  <a:moveTo>
                    <a:pt x="0" y="6345867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4782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" name="pl23"/>
            <p:cNvSpPr/>
            <p:nvPr/>
          </p:nvSpPr>
          <p:spPr>
            <a:xfrm>
              <a:off x="6244729" y="75915"/>
              <a:ext cx="0" cy="6345867"/>
            </a:xfrm>
            <a:custGeom>
              <a:avLst/>
              <a:pathLst>
                <a:path w="0" h="6345867">
                  <a:moveTo>
                    <a:pt x="0" y="6345867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4782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" name="pl24"/>
            <p:cNvSpPr/>
            <p:nvPr/>
          </p:nvSpPr>
          <p:spPr>
            <a:xfrm>
              <a:off x="7566256" y="75915"/>
              <a:ext cx="0" cy="6345867"/>
            </a:xfrm>
            <a:custGeom>
              <a:avLst/>
              <a:pathLst>
                <a:path w="0" h="6345867">
                  <a:moveTo>
                    <a:pt x="0" y="6345867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4782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" name="pl25"/>
            <p:cNvSpPr/>
            <p:nvPr/>
          </p:nvSpPr>
          <p:spPr>
            <a:xfrm>
              <a:off x="958622" y="1460832"/>
              <a:ext cx="6607633" cy="4613583"/>
            </a:xfrm>
            <a:custGeom>
              <a:avLst/>
              <a:pathLst>
                <a:path w="6607633" h="4613583">
                  <a:moveTo>
                    <a:pt x="0" y="0"/>
                  </a:moveTo>
                  <a:lnTo>
                    <a:pt x="66743" y="282012"/>
                  </a:lnTo>
                  <a:lnTo>
                    <a:pt x="133487" y="703592"/>
                  </a:lnTo>
                  <a:lnTo>
                    <a:pt x="200231" y="705588"/>
                  </a:lnTo>
                  <a:lnTo>
                    <a:pt x="266975" y="1135741"/>
                  </a:lnTo>
                  <a:lnTo>
                    <a:pt x="333718" y="1281111"/>
                  </a:lnTo>
                  <a:lnTo>
                    <a:pt x="400462" y="1520919"/>
                  </a:lnTo>
                  <a:lnTo>
                    <a:pt x="467206" y="1680453"/>
                  </a:lnTo>
                  <a:lnTo>
                    <a:pt x="533950" y="1827835"/>
                  </a:lnTo>
                  <a:lnTo>
                    <a:pt x="600693" y="1995941"/>
                  </a:lnTo>
                  <a:lnTo>
                    <a:pt x="667437" y="2160315"/>
                  </a:lnTo>
                  <a:lnTo>
                    <a:pt x="734181" y="2292478"/>
                  </a:lnTo>
                  <a:lnTo>
                    <a:pt x="800925" y="2475821"/>
                  </a:lnTo>
                  <a:lnTo>
                    <a:pt x="867669" y="2603538"/>
                  </a:lnTo>
                  <a:lnTo>
                    <a:pt x="934412" y="2817407"/>
                  </a:lnTo>
                  <a:lnTo>
                    <a:pt x="1001156" y="2823136"/>
                  </a:lnTo>
                  <a:lnTo>
                    <a:pt x="1067900" y="2938283"/>
                  </a:lnTo>
                  <a:lnTo>
                    <a:pt x="1134644" y="2771157"/>
                  </a:lnTo>
                  <a:lnTo>
                    <a:pt x="1201387" y="3198375"/>
                  </a:lnTo>
                  <a:lnTo>
                    <a:pt x="1268131" y="3161091"/>
                  </a:lnTo>
                  <a:lnTo>
                    <a:pt x="1334875" y="3376708"/>
                  </a:lnTo>
                  <a:lnTo>
                    <a:pt x="1401619" y="3450935"/>
                  </a:lnTo>
                  <a:lnTo>
                    <a:pt x="1468362" y="3390847"/>
                  </a:lnTo>
                  <a:lnTo>
                    <a:pt x="1535106" y="3550444"/>
                  </a:lnTo>
                  <a:lnTo>
                    <a:pt x="1601850" y="3531393"/>
                  </a:lnTo>
                  <a:lnTo>
                    <a:pt x="1668594" y="3625714"/>
                  </a:lnTo>
                  <a:lnTo>
                    <a:pt x="1735338" y="3696535"/>
                  </a:lnTo>
                  <a:lnTo>
                    <a:pt x="1802081" y="3865048"/>
                  </a:lnTo>
                  <a:lnTo>
                    <a:pt x="1868825" y="3848011"/>
                  </a:lnTo>
                  <a:lnTo>
                    <a:pt x="1935569" y="3778135"/>
                  </a:lnTo>
                  <a:lnTo>
                    <a:pt x="2002313" y="3789261"/>
                  </a:lnTo>
                  <a:lnTo>
                    <a:pt x="2069056" y="3917229"/>
                  </a:lnTo>
                  <a:lnTo>
                    <a:pt x="2135800" y="3914591"/>
                  </a:lnTo>
                  <a:lnTo>
                    <a:pt x="2202544" y="3857674"/>
                  </a:lnTo>
                  <a:lnTo>
                    <a:pt x="2269288" y="3865041"/>
                  </a:lnTo>
                  <a:lnTo>
                    <a:pt x="2336031" y="4105752"/>
                  </a:lnTo>
                  <a:lnTo>
                    <a:pt x="2402775" y="4054473"/>
                  </a:lnTo>
                  <a:lnTo>
                    <a:pt x="2469519" y="3973425"/>
                  </a:lnTo>
                  <a:lnTo>
                    <a:pt x="2536263" y="4137301"/>
                  </a:lnTo>
                  <a:lnTo>
                    <a:pt x="2603007" y="4127324"/>
                  </a:lnTo>
                  <a:lnTo>
                    <a:pt x="2669750" y="4153043"/>
                  </a:lnTo>
                  <a:lnTo>
                    <a:pt x="2736494" y="4240698"/>
                  </a:lnTo>
                  <a:lnTo>
                    <a:pt x="2803238" y="4224382"/>
                  </a:lnTo>
                  <a:lnTo>
                    <a:pt x="2869982" y="4209118"/>
                  </a:lnTo>
                  <a:lnTo>
                    <a:pt x="2936725" y="4258649"/>
                  </a:lnTo>
                  <a:lnTo>
                    <a:pt x="3003469" y="4149414"/>
                  </a:lnTo>
                  <a:lnTo>
                    <a:pt x="3070213" y="4296629"/>
                  </a:lnTo>
                  <a:lnTo>
                    <a:pt x="3136957" y="4307433"/>
                  </a:lnTo>
                  <a:lnTo>
                    <a:pt x="3203700" y="4228074"/>
                  </a:lnTo>
                  <a:lnTo>
                    <a:pt x="3270444" y="4385680"/>
                  </a:lnTo>
                  <a:lnTo>
                    <a:pt x="3337188" y="4314111"/>
                  </a:lnTo>
                  <a:lnTo>
                    <a:pt x="3403932" y="4450184"/>
                  </a:lnTo>
                  <a:lnTo>
                    <a:pt x="3470676" y="4236699"/>
                  </a:lnTo>
                  <a:lnTo>
                    <a:pt x="3537419" y="4365637"/>
                  </a:lnTo>
                  <a:lnTo>
                    <a:pt x="3604163" y="4391135"/>
                  </a:lnTo>
                  <a:lnTo>
                    <a:pt x="3670907" y="4463579"/>
                  </a:lnTo>
                  <a:lnTo>
                    <a:pt x="3737651" y="4370443"/>
                  </a:lnTo>
                  <a:lnTo>
                    <a:pt x="3804394" y="4443655"/>
                  </a:lnTo>
                  <a:lnTo>
                    <a:pt x="3871138" y="4429015"/>
                  </a:lnTo>
                  <a:lnTo>
                    <a:pt x="3937882" y="4285718"/>
                  </a:lnTo>
                  <a:lnTo>
                    <a:pt x="4004626" y="4412895"/>
                  </a:lnTo>
                  <a:lnTo>
                    <a:pt x="4071370" y="4492913"/>
                  </a:lnTo>
                  <a:lnTo>
                    <a:pt x="4138113" y="4396771"/>
                  </a:lnTo>
                  <a:lnTo>
                    <a:pt x="4204857" y="4445523"/>
                  </a:lnTo>
                  <a:lnTo>
                    <a:pt x="4271601" y="4371982"/>
                  </a:lnTo>
                  <a:lnTo>
                    <a:pt x="4338345" y="4307233"/>
                  </a:lnTo>
                  <a:lnTo>
                    <a:pt x="4405088" y="4511703"/>
                  </a:lnTo>
                  <a:lnTo>
                    <a:pt x="4471832" y="4396498"/>
                  </a:lnTo>
                  <a:lnTo>
                    <a:pt x="4538576" y="4430912"/>
                  </a:lnTo>
                  <a:lnTo>
                    <a:pt x="4605320" y="4367725"/>
                  </a:lnTo>
                  <a:lnTo>
                    <a:pt x="4672063" y="4463997"/>
                  </a:lnTo>
                  <a:lnTo>
                    <a:pt x="4738807" y="4379281"/>
                  </a:lnTo>
                  <a:lnTo>
                    <a:pt x="4805551" y="4595263"/>
                  </a:lnTo>
                  <a:lnTo>
                    <a:pt x="4872295" y="4314838"/>
                  </a:lnTo>
                  <a:lnTo>
                    <a:pt x="4939039" y="4385541"/>
                  </a:lnTo>
                  <a:lnTo>
                    <a:pt x="5005782" y="4471822"/>
                  </a:lnTo>
                  <a:lnTo>
                    <a:pt x="5072526" y="4581265"/>
                  </a:lnTo>
                  <a:lnTo>
                    <a:pt x="5139270" y="4410934"/>
                  </a:lnTo>
                  <a:lnTo>
                    <a:pt x="5206014" y="4426199"/>
                  </a:lnTo>
                  <a:lnTo>
                    <a:pt x="5272757" y="4468533"/>
                  </a:lnTo>
                  <a:lnTo>
                    <a:pt x="5339501" y="4457353"/>
                  </a:lnTo>
                  <a:lnTo>
                    <a:pt x="5406245" y="4519747"/>
                  </a:lnTo>
                  <a:lnTo>
                    <a:pt x="5472989" y="4442769"/>
                  </a:lnTo>
                  <a:lnTo>
                    <a:pt x="5539732" y="4450405"/>
                  </a:lnTo>
                  <a:lnTo>
                    <a:pt x="5606476" y="4499168"/>
                  </a:lnTo>
                  <a:lnTo>
                    <a:pt x="5673220" y="4587688"/>
                  </a:lnTo>
                  <a:lnTo>
                    <a:pt x="5739964" y="4420933"/>
                  </a:lnTo>
                  <a:lnTo>
                    <a:pt x="5806708" y="4434201"/>
                  </a:lnTo>
                  <a:lnTo>
                    <a:pt x="5873451" y="4549999"/>
                  </a:lnTo>
                  <a:lnTo>
                    <a:pt x="5940195" y="4613583"/>
                  </a:lnTo>
                  <a:lnTo>
                    <a:pt x="6006939" y="4466132"/>
                  </a:lnTo>
                  <a:lnTo>
                    <a:pt x="6073683" y="4512417"/>
                  </a:lnTo>
                  <a:lnTo>
                    <a:pt x="6140426" y="4463979"/>
                  </a:lnTo>
                  <a:lnTo>
                    <a:pt x="6207170" y="4592353"/>
                  </a:lnTo>
                  <a:lnTo>
                    <a:pt x="6273914" y="4565495"/>
                  </a:lnTo>
                  <a:lnTo>
                    <a:pt x="6340658" y="4397539"/>
                  </a:lnTo>
                  <a:lnTo>
                    <a:pt x="6407401" y="4454460"/>
                  </a:lnTo>
                  <a:lnTo>
                    <a:pt x="6474145" y="4440017"/>
                  </a:lnTo>
                  <a:lnTo>
                    <a:pt x="6540889" y="4339259"/>
                  </a:lnTo>
                  <a:lnTo>
                    <a:pt x="6607633" y="4478909"/>
                  </a:lnTo>
                </a:path>
              </a:pathLst>
            </a:custGeom>
            <a:ln w="27101" cap="flat">
              <a:solidFill>
                <a:srgbClr val="ED7D3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" name="pl26"/>
            <p:cNvSpPr/>
            <p:nvPr/>
          </p:nvSpPr>
          <p:spPr>
            <a:xfrm>
              <a:off x="958622" y="364363"/>
              <a:ext cx="6607633" cy="5768970"/>
            </a:xfrm>
            <a:custGeom>
              <a:avLst/>
              <a:pathLst>
                <a:path w="6607633" h="5768970">
                  <a:moveTo>
                    <a:pt x="0" y="0"/>
                  </a:moveTo>
                  <a:lnTo>
                    <a:pt x="66743" y="483688"/>
                  </a:lnTo>
                  <a:lnTo>
                    <a:pt x="133487" y="639130"/>
                  </a:lnTo>
                  <a:lnTo>
                    <a:pt x="200231" y="854263"/>
                  </a:lnTo>
                  <a:lnTo>
                    <a:pt x="266975" y="1112144"/>
                  </a:lnTo>
                  <a:lnTo>
                    <a:pt x="333718" y="1389552"/>
                  </a:lnTo>
                  <a:lnTo>
                    <a:pt x="400462" y="1422033"/>
                  </a:lnTo>
                  <a:lnTo>
                    <a:pt x="467206" y="1798690"/>
                  </a:lnTo>
                  <a:lnTo>
                    <a:pt x="533950" y="1756473"/>
                  </a:lnTo>
                  <a:lnTo>
                    <a:pt x="600693" y="2166146"/>
                  </a:lnTo>
                  <a:lnTo>
                    <a:pt x="667437" y="2187644"/>
                  </a:lnTo>
                  <a:lnTo>
                    <a:pt x="734181" y="2243105"/>
                  </a:lnTo>
                  <a:lnTo>
                    <a:pt x="800925" y="2802698"/>
                  </a:lnTo>
                  <a:lnTo>
                    <a:pt x="867669" y="2828348"/>
                  </a:lnTo>
                  <a:lnTo>
                    <a:pt x="934412" y="2952803"/>
                  </a:lnTo>
                  <a:lnTo>
                    <a:pt x="1001156" y="3001739"/>
                  </a:lnTo>
                  <a:lnTo>
                    <a:pt x="1067900" y="3229897"/>
                  </a:lnTo>
                  <a:lnTo>
                    <a:pt x="1134644" y="3611484"/>
                  </a:lnTo>
                  <a:lnTo>
                    <a:pt x="1201387" y="3702493"/>
                  </a:lnTo>
                  <a:lnTo>
                    <a:pt x="1268131" y="3398035"/>
                  </a:lnTo>
                  <a:lnTo>
                    <a:pt x="1334875" y="3680671"/>
                  </a:lnTo>
                  <a:lnTo>
                    <a:pt x="1401619" y="3941473"/>
                  </a:lnTo>
                  <a:lnTo>
                    <a:pt x="1468362" y="3858251"/>
                  </a:lnTo>
                  <a:lnTo>
                    <a:pt x="1535106" y="3794912"/>
                  </a:lnTo>
                  <a:lnTo>
                    <a:pt x="1601850" y="3804833"/>
                  </a:lnTo>
                  <a:lnTo>
                    <a:pt x="1668594" y="4141182"/>
                  </a:lnTo>
                  <a:lnTo>
                    <a:pt x="1735338" y="4198751"/>
                  </a:lnTo>
                  <a:lnTo>
                    <a:pt x="1802081" y="4437204"/>
                  </a:lnTo>
                  <a:lnTo>
                    <a:pt x="1868825" y="4261958"/>
                  </a:lnTo>
                  <a:lnTo>
                    <a:pt x="1935569" y="4448784"/>
                  </a:lnTo>
                  <a:lnTo>
                    <a:pt x="2002313" y="4390915"/>
                  </a:lnTo>
                  <a:lnTo>
                    <a:pt x="2069056" y="4423008"/>
                  </a:lnTo>
                  <a:lnTo>
                    <a:pt x="2135800" y="4443274"/>
                  </a:lnTo>
                  <a:lnTo>
                    <a:pt x="2202544" y="4677876"/>
                  </a:lnTo>
                  <a:lnTo>
                    <a:pt x="2269288" y="4606528"/>
                  </a:lnTo>
                  <a:lnTo>
                    <a:pt x="2336031" y="4899518"/>
                  </a:lnTo>
                  <a:lnTo>
                    <a:pt x="2402775" y="4843198"/>
                  </a:lnTo>
                  <a:lnTo>
                    <a:pt x="2469519" y="4894465"/>
                  </a:lnTo>
                  <a:lnTo>
                    <a:pt x="2536263" y="5108182"/>
                  </a:lnTo>
                  <a:lnTo>
                    <a:pt x="2603007" y="4878444"/>
                  </a:lnTo>
                  <a:lnTo>
                    <a:pt x="2669750" y="4897541"/>
                  </a:lnTo>
                  <a:lnTo>
                    <a:pt x="2736494" y="4995820"/>
                  </a:lnTo>
                  <a:lnTo>
                    <a:pt x="2803238" y="4906884"/>
                  </a:lnTo>
                  <a:lnTo>
                    <a:pt x="2869982" y="5102648"/>
                  </a:lnTo>
                  <a:lnTo>
                    <a:pt x="2936725" y="5204073"/>
                  </a:lnTo>
                  <a:lnTo>
                    <a:pt x="3003469" y="5035346"/>
                  </a:lnTo>
                  <a:lnTo>
                    <a:pt x="3070213" y="5200080"/>
                  </a:lnTo>
                  <a:lnTo>
                    <a:pt x="3136957" y="4978562"/>
                  </a:lnTo>
                  <a:lnTo>
                    <a:pt x="3203700" y="5210046"/>
                  </a:lnTo>
                  <a:lnTo>
                    <a:pt x="3270444" y="5114473"/>
                  </a:lnTo>
                  <a:lnTo>
                    <a:pt x="3337188" y="5173972"/>
                  </a:lnTo>
                  <a:lnTo>
                    <a:pt x="3403932" y="5317253"/>
                  </a:lnTo>
                  <a:lnTo>
                    <a:pt x="3470676" y="5078370"/>
                  </a:lnTo>
                  <a:lnTo>
                    <a:pt x="3537419" y="5200550"/>
                  </a:lnTo>
                  <a:lnTo>
                    <a:pt x="3604163" y="5280009"/>
                  </a:lnTo>
                  <a:lnTo>
                    <a:pt x="3670907" y="5277178"/>
                  </a:lnTo>
                  <a:lnTo>
                    <a:pt x="3737651" y="5249725"/>
                  </a:lnTo>
                  <a:lnTo>
                    <a:pt x="3804394" y="5330559"/>
                  </a:lnTo>
                  <a:lnTo>
                    <a:pt x="3871138" y="5684822"/>
                  </a:lnTo>
                  <a:lnTo>
                    <a:pt x="3937882" y="5338801"/>
                  </a:lnTo>
                  <a:lnTo>
                    <a:pt x="4004626" y="5424275"/>
                  </a:lnTo>
                  <a:lnTo>
                    <a:pt x="4071370" y="5376599"/>
                  </a:lnTo>
                  <a:lnTo>
                    <a:pt x="4138113" y="5345420"/>
                  </a:lnTo>
                  <a:lnTo>
                    <a:pt x="4204857" y="5267295"/>
                  </a:lnTo>
                  <a:lnTo>
                    <a:pt x="4271601" y="5512455"/>
                  </a:lnTo>
                  <a:lnTo>
                    <a:pt x="4338345" y="5299913"/>
                  </a:lnTo>
                  <a:lnTo>
                    <a:pt x="4405088" y="5416386"/>
                  </a:lnTo>
                  <a:lnTo>
                    <a:pt x="4471832" y="5348773"/>
                  </a:lnTo>
                  <a:lnTo>
                    <a:pt x="4538576" y="5370911"/>
                  </a:lnTo>
                  <a:lnTo>
                    <a:pt x="4605320" y="5401622"/>
                  </a:lnTo>
                  <a:lnTo>
                    <a:pt x="4672063" y="5603919"/>
                  </a:lnTo>
                  <a:lnTo>
                    <a:pt x="4738807" y="5507015"/>
                  </a:lnTo>
                  <a:lnTo>
                    <a:pt x="4805551" y="5436031"/>
                  </a:lnTo>
                  <a:lnTo>
                    <a:pt x="4872295" y="5616601"/>
                  </a:lnTo>
                  <a:lnTo>
                    <a:pt x="4939039" y="5578219"/>
                  </a:lnTo>
                  <a:lnTo>
                    <a:pt x="5005782" y="5461077"/>
                  </a:lnTo>
                  <a:lnTo>
                    <a:pt x="5072526" y="5446624"/>
                  </a:lnTo>
                  <a:lnTo>
                    <a:pt x="5139270" y="5485932"/>
                  </a:lnTo>
                  <a:lnTo>
                    <a:pt x="5206014" y="5639890"/>
                  </a:lnTo>
                  <a:lnTo>
                    <a:pt x="5272757" y="5668695"/>
                  </a:lnTo>
                  <a:lnTo>
                    <a:pt x="5339501" y="5386399"/>
                  </a:lnTo>
                  <a:lnTo>
                    <a:pt x="5406245" y="5529157"/>
                  </a:lnTo>
                  <a:lnTo>
                    <a:pt x="5472989" y="5552324"/>
                  </a:lnTo>
                  <a:lnTo>
                    <a:pt x="5539732" y="5579652"/>
                  </a:lnTo>
                  <a:lnTo>
                    <a:pt x="5606476" y="5701796"/>
                  </a:lnTo>
                  <a:lnTo>
                    <a:pt x="5673220" y="5507039"/>
                  </a:lnTo>
                  <a:lnTo>
                    <a:pt x="5739964" y="5601924"/>
                  </a:lnTo>
                  <a:lnTo>
                    <a:pt x="5806708" y="5601661"/>
                  </a:lnTo>
                  <a:lnTo>
                    <a:pt x="5873451" y="5482263"/>
                  </a:lnTo>
                  <a:lnTo>
                    <a:pt x="5940195" y="5497714"/>
                  </a:lnTo>
                  <a:lnTo>
                    <a:pt x="6006939" y="5438014"/>
                  </a:lnTo>
                  <a:lnTo>
                    <a:pt x="6073683" y="5646353"/>
                  </a:lnTo>
                  <a:lnTo>
                    <a:pt x="6140426" y="5525198"/>
                  </a:lnTo>
                  <a:lnTo>
                    <a:pt x="6207170" y="5446332"/>
                  </a:lnTo>
                  <a:lnTo>
                    <a:pt x="6273914" y="5723947"/>
                  </a:lnTo>
                  <a:lnTo>
                    <a:pt x="6340658" y="5698803"/>
                  </a:lnTo>
                  <a:lnTo>
                    <a:pt x="6407401" y="5730833"/>
                  </a:lnTo>
                  <a:lnTo>
                    <a:pt x="6474145" y="5768970"/>
                  </a:lnTo>
                  <a:lnTo>
                    <a:pt x="6540889" y="5601717"/>
                  </a:lnTo>
                  <a:lnTo>
                    <a:pt x="6607633" y="5540596"/>
                  </a:lnTo>
                </a:path>
              </a:pathLst>
            </a:custGeom>
            <a:ln w="27101" cap="flat">
              <a:solidFill>
                <a:srgbClr val="4472C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" name="pl27"/>
            <p:cNvSpPr/>
            <p:nvPr/>
          </p:nvSpPr>
          <p:spPr>
            <a:xfrm>
              <a:off x="958622" y="2769657"/>
              <a:ext cx="6607633" cy="3326885"/>
            </a:xfrm>
            <a:custGeom>
              <a:avLst/>
              <a:pathLst>
                <a:path w="6607633" h="3326885">
                  <a:moveTo>
                    <a:pt x="0" y="0"/>
                  </a:moveTo>
                  <a:lnTo>
                    <a:pt x="66743" y="137966"/>
                  </a:lnTo>
                  <a:lnTo>
                    <a:pt x="133487" y="336756"/>
                  </a:lnTo>
                  <a:lnTo>
                    <a:pt x="200231" y="512993"/>
                  </a:lnTo>
                  <a:lnTo>
                    <a:pt x="266975" y="908858"/>
                  </a:lnTo>
                  <a:lnTo>
                    <a:pt x="333718" y="1086634"/>
                  </a:lnTo>
                  <a:lnTo>
                    <a:pt x="400462" y="1237011"/>
                  </a:lnTo>
                  <a:lnTo>
                    <a:pt x="467206" y="1416892"/>
                  </a:lnTo>
                  <a:lnTo>
                    <a:pt x="533950" y="1542198"/>
                  </a:lnTo>
                  <a:lnTo>
                    <a:pt x="600693" y="1652712"/>
                  </a:lnTo>
                  <a:lnTo>
                    <a:pt x="667437" y="1833434"/>
                  </a:lnTo>
                  <a:lnTo>
                    <a:pt x="734181" y="1770158"/>
                  </a:lnTo>
                  <a:lnTo>
                    <a:pt x="800925" y="1981756"/>
                  </a:lnTo>
                  <a:lnTo>
                    <a:pt x="867669" y="2089305"/>
                  </a:lnTo>
                  <a:lnTo>
                    <a:pt x="934412" y="2146595"/>
                  </a:lnTo>
                  <a:lnTo>
                    <a:pt x="1001156" y="2253760"/>
                  </a:lnTo>
                  <a:lnTo>
                    <a:pt x="1067900" y="2338432"/>
                  </a:lnTo>
                  <a:lnTo>
                    <a:pt x="1134644" y="2319233"/>
                  </a:lnTo>
                  <a:lnTo>
                    <a:pt x="1201387" y="2476048"/>
                  </a:lnTo>
                  <a:lnTo>
                    <a:pt x="1268131" y="2593232"/>
                  </a:lnTo>
                  <a:lnTo>
                    <a:pt x="1334875" y="2555254"/>
                  </a:lnTo>
                  <a:lnTo>
                    <a:pt x="1401619" y="2645256"/>
                  </a:lnTo>
                  <a:lnTo>
                    <a:pt x="1468362" y="2700092"/>
                  </a:lnTo>
                  <a:lnTo>
                    <a:pt x="1535106" y="2771936"/>
                  </a:lnTo>
                  <a:lnTo>
                    <a:pt x="1601850" y="2728075"/>
                  </a:lnTo>
                  <a:lnTo>
                    <a:pt x="1668594" y="2796523"/>
                  </a:lnTo>
                  <a:lnTo>
                    <a:pt x="1735338" y="2791073"/>
                  </a:lnTo>
                  <a:lnTo>
                    <a:pt x="1802081" y="2862167"/>
                  </a:lnTo>
                  <a:lnTo>
                    <a:pt x="1868825" y="2912931"/>
                  </a:lnTo>
                  <a:lnTo>
                    <a:pt x="1935569" y="2833201"/>
                  </a:lnTo>
                  <a:lnTo>
                    <a:pt x="2002313" y="2940081"/>
                  </a:lnTo>
                  <a:lnTo>
                    <a:pt x="2069056" y="2894330"/>
                  </a:lnTo>
                  <a:lnTo>
                    <a:pt x="2135800" y="3032124"/>
                  </a:lnTo>
                  <a:lnTo>
                    <a:pt x="2202544" y="3009698"/>
                  </a:lnTo>
                  <a:lnTo>
                    <a:pt x="2269288" y="3015438"/>
                  </a:lnTo>
                  <a:lnTo>
                    <a:pt x="2336031" y="3037349"/>
                  </a:lnTo>
                  <a:lnTo>
                    <a:pt x="2402775" y="2955684"/>
                  </a:lnTo>
                  <a:lnTo>
                    <a:pt x="2469519" y="3043962"/>
                  </a:lnTo>
                  <a:lnTo>
                    <a:pt x="2536263" y="3041107"/>
                  </a:lnTo>
                  <a:lnTo>
                    <a:pt x="2603007" y="3117226"/>
                  </a:lnTo>
                  <a:lnTo>
                    <a:pt x="2669750" y="3115499"/>
                  </a:lnTo>
                  <a:lnTo>
                    <a:pt x="2736494" y="3029708"/>
                  </a:lnTo>
                  <a:lnTo>
                    <a:pt x="2803238" y="3023834"/>
                  </a:lnTo>
                  <a:lnTo>
                    <a:pt x="2869982" y="3032126"/>
                  </a:lnTo>
                  <a:lnTo>
                    <a:pt x="2936725" y="3183852"/>
                  </a:lnTo>
                  <a:lnTo>
                    <a:pt x="3003469" y="3001774"/>
                  </a:lnTo>
                  <a:lnTo>
                    <a:pt x="3070213" y="3064611"/>
                  </a:lnTo>
                  <a:lnTo>
                    <a:pt x="3136957" y="3127540"/>
                  </a:lnTo>
                  <a:lnTo>
                    <a:pt x="3203700" y="3092478"/>
                  </a:lnTo>
                  <a:lnTo>
                    <a:pt x="3270444" y="3189266"/>
                  </a:lnTo>
                  <a:lnTo>
                    <a:pt x="3337188" y="3200434"/>
                  </a:lnTo>
                  <a:lnTo>
                    <a:pt x="3403932" y="3141421"/>
                  </a:lnTo>
                  <a:lnTo>
                    <a:pt x="3470676" y="3213660"/>
                  </a:lnTo>
                  <a:lnTo>
                    <a:pt x="3537419" y="3140655"/>
                  </a:lnTo>
                  <a:lnTo>
                    <a:pt x="3604163" y="3082822"/>
                  </a:lnTo>
                  <a:lnTo>
                    <a:pt x="3670907" y="3213856"/>
                  </a:lnTo>
                  <a:lnTo>
                    <a:pt x="3737651" y="3200210"/>
                  </a:lnTo>
                  <a:lnTo>
                    <a:pt x="3804394" y="3159434"/>
                  </a:lnTo>
                  <a:lnTo>
                    <a:pt x="3871138" y="3220146"/>
                  </a:lnTo>
                  <a:lnTo>
                    <a:pt x="3937882" y="3187286"/>
                  </a:lnTo>
                  <a:lnTo>
                    <a:pt x="4004626" y="3120076"/>
                  </a:lnTo>
                  <a:lnTo>
                    <a:pt x="4071370" y="3116460"/>
                  </a:lnTo>
                  <a:lnTo>
                    <a:pt x="4138113" y="3150235"/>
                  </a:lnTo>
                  <a:lnTo>
                    <a:pt x="4204857" y="3274595"/>
                  </a:lnTo>
                  <a:lnTo>
                    <a:pt x="4271601" y="3177078"/>
                  </a:lnTo>
                  <a:lnTo>
                    <a:pt x="4338345" y="3116778"/>
                  </a:lnTo>
                  <a:lnTo>
                    <a:pt x="4405088" y="3131732"/>
                  </a:lnTo>
                  <a:lnTo>
                    <a:pt x="4471832" y="3187969"/>
                  </a:lnTo>
                  <a:lnTo>
                    <a:pt x="4538576" y="3326885"/>
                  </a:lnTo>
                  <a:lnTo>
                    <a:pt x="4605320" y="3175941"/>
                  </a:lnTo>
                  <a:lnTo>
                    <a:pt x="4672063" y="3148544"/>
                  </a:lnTo>
                  <a:lnTo>
                    <a:pt x="4738807" y="3178310"/>
                  </a:lnTo>
                  <a:lnTo>
                    <a:pt x="4805551" y="3172849"/>
                  </a:lnTo>
                  <a:lnTo>
                    <a:pt x="4872295" y="3158395"/>
                  </a:lnTo>
                  <a:lnTo>
                    <a:pt x="4939039" y="3204502"/>
                  </a:lnTo>
                  <a:lnTo>
                    <a:pt x="5005782" y="3111190"/>
                  </a:lnTo>
                  <a:lnTo>
                    <a:pt x="5072526" y="3157839"/>
                  </a:lnTo>
                  <a:lnTo>
                    <a:pt x="5139270" y="3252480"/>
                  </a:lnTo>
                  <a:lnTo>
                    <a:pt x="5206014" y="3108588"/>
                  </a:lnTo>
                  <a:lnTo>
                    <a:pt x="5272757" y="3118702"/>
                  </a:lnTo>
                  <a:lnTo>
                    <a:pt x="5339501" y="3139963"/>
                  </a:lnTo>
                  <a:lnTo>
                    <a:pt x="5406245" y="3277016"/>
                  </a:lnTo>
                  <a:lnTo>
                    <a:pt x="5472989" y="3217189"/>
                  </a:lnTo>
                  <a:lnTo>
                    <a:pt x="5539732" y="3151207"/>
                  </a:lnTo>
                  <a:lnTo>
                    <a:pt x="5606476" y="3183994"/>
                  </a:lnTo>
                  <a:lnTo>
                    <a:pt x="5673220" y="3167489"/>
                  </a:lnTo>
                  <a:lnTo>
                    <a:pt x="5739964" y="3051587"/>
                  </a:lnTo>
                  <a:lnTo>
                    <a:pt x="5806708" y="3232024"/>
                  </a:lnTo>
                  <a:lnTo>
                    <a:pt x="5873451" y="3303399"/>
                  </a:lnTo>
                  <a:lnTo>
                    <a:pt x="5940195" y="3172312"/>
                  </a:lnTo>
                  <a:lnTo>
                    <a:pt x="6006939" y="3225319"/>
                  </a:lnTo>
                  <a:lnTo>
                    <a:pt x="6073683" y="3163120"/>
                  </a:lnTo>
                  <a:lnTo>
                    <a:pt x="6140426" y="3232443"/>
                  </a:lnTo>
                  <a:lnTo>
                    <a:pt x="6207170" y="3066253"/>
                  </a:lnTo>
                  <a:lnTo>
                    <a:pt x="6273914" y="3194796"/>
                  </a:lnTo>
                  <a:lnTo>
                    <a:pt x="6340658" y="3214338"/>
                  </a:lnTo>
                  <a:lnTo>
                    <a:pt x="6407401" y="3197323"/>
                  </a:lnTo>
                  <a:lnTo>
                    <a:pt x="6474145" y="3140833"/>
                  </a:lnTo>
                  <a:lnTo>
                    <a:pt x="6540889" y="3182986"/>
                  </a:lnTo>
                  <a:lnTo>
                    <a:pt x="6607633" y="3277797"/>
                  </a:lnTo>
                </a:path>
              </a:pathLst>
            </a:custGeom>
            <a:ln w="27101" cap="flat">
              <a:solidFill>
                <a:srgbClr val="70AD4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" name="tx28"/>
            <p:cNvSpPr/>
            <p:nvPr/>
          </p:nvSpPr>
          <p:spPr>
            <a:xfrm>
              <a:off x="255056" y="5090435"/>
              <a:ext cx="304860" cy="87233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960" i="0" b="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1.000</a:t>
              </a:r>
            </a:p>
          </p:txBody>
        </p:sp>
        <p:sp>
          <p:nvSpPr>
            <p:cNvPr id="29" name="tx29"/>
            <p:cNvSpPr/>
            <p:nvPr/>
          </p:nvSpPr>
          <p:spPr>
            <a:xfrm>
              <a:off x="255056" y="3715757"/>
              <a:ext cx="304860" cy="87233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960" i="0" b="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1.025</a:t>
              </a:r>
            </a:p>
          </p:txBody>
        </p:sp>
        <p:sp>
          <p:nvSpPr>
            <p:cNvPr id="30" name="tx30"/>
            <p:cNvSpPr/>
            <p:nvPr/>
          </p:nvSpPr>
          <p:spPr>
            <a:xfrm>
              <a:off x="255056" y="2341079"/>
              <a:ext cx="304860" cy="87233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960" i="0" b="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1.050</a:t>
              </a:r>
            </a:p>
          </p:txBody>
        </p:sp>
        <p:sp>
          <p:nvSpPr>
            <p:cNvPr id="31" name="tx31"/>
            <p:cNvSpPr/>
            <p:nvPr/>
          </p:nvSpPr>
          <p:spPr>
            <a:xfrm>
              <a:off x="255056" y="966401"/>
              <a:ext cx="304860" cy="87233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960" i="0" b="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1.075</a:t>
              </a:r>
            </a:p>
          </p:txBody>
        </p:sp>
        <p:sp>
          <p:nvSpPr>
            <p:cNvPr id="32" name="tx32"/>
            <p:cNvSpPr/>
            <p:nvPr/>
          </p:nvSpPr>
          <p:spPr>
            <a:xfrm>
              <a:off x="924744" y="6490106"/>
              <a:ext cx="67757" cy="87233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960" i="0" b="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0</a:t>
              </a:r>
            </a:p>
          </p:txBody>
        </p:sp>
        <p:sp>
          <p:nvSpPr>
            <p:cNvPr id="33" name="tx33"/>
            <p:cNvSpPr/>
            <p:nvPr/>
          </p:nvSpPr>
          <p:spPr>
            <a:xfrm>
              <a:off x="2178513" y="6490106"/>
              <a:ext cx="203271" cy="87233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960" i="0" b="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100</a:t>
              </a:r>
            </a:p>
          </p:txBody>
        </p:sp>
        <p:sp>
          <p:nvSpPr>
            <p:cNvPr id="34" name="tx34"/>
            <p:cNvSpPr/>
            <p:nvPr/>
          </p:nvSpPr>
          <p:spPr>
            <a:xfrm>
              <a:off x="3500040" y="6490106"/>
              <a:ext cx="203271" cy="87233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960" i="0" b="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200</a:t>
              </a:r>
            </a:p>
          </p:txBody>
        </p:sp>
        <p:sp>
          <p:nvSpPr>
            <p:cNvPr id="35" name="tx35"/>
            <p:cNvSpPr/>
            <p:nvPr/>
          </p:nvSpPr>
          <p:spPr>
            <a:xfrm>
              <a:off x="4821567" y="6490106"/>
              <a:ext cx="203271" cy="87233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960" i="0" b="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300</a:t>
              </a:r>
            </a:p>
          </p:txBody>
        </p:sp>
        <p:sp>
          <p:nvSpPr>
            <p:cNvPr id="36" name="tx36"/>
            <p:cNvSpPr/>
            <p:nvPr/>
          </p:nvSpPr>
          <p:spPr>
            <a:xfrm>
              <a:off x="6143093" y="6490106"/>
              <a:ext cx="203271" cy="87233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960" i="0" b="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400</a:t>
              </a:r>
            </a:p>
          </p:txBody>
        </p:sp>
        <p:sp>
          <p:nvSpPr>
            <p:cNvPr id="37" name="tx37"/>
            <p:cNvSpPr/>
            <p:nvPr/>
          </p:nvSpPr>
          <p:spPr>
            <a:xfrm>
              <a:off x="7464620" y="6490106"/>
              <a:ext cx="203271" cy="87233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960" i="0" b="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500</a:t>
              </a:r>
            </a:p>
          </p:txBody>
        </p:sp>
        <p:sp>
          <p:nvSpPr>
            <p:cNvPr id="38" name="tx38"/>
            <p:cNvSpPr/>
            <p:nvPr/>
          </p:nvSpPr>
          <p:spPr>
            <a:xfrm>
              <a:off x="4033839" y="6640901"/>
              <a:ext cx="457200" cy="10917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1200" i="0" b="1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迭代次数</a:t>
              </a:r>
            </a:p>
          </p:txBody>
        </p:sp>
        <p:sp>
          <p:nvSpPr>
            <p:cNvPr id="39" name="tx39"/>
            <p:cNvSpPr/>
            <p:nvPr/>
          </p:nvSpPr>
          <p:spPr>
            <a:xfrm rot="-5400000">
              <a:off x="-377581" y="3194259"/>
              <a:ext cx="1016172" cy="10917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1200" i="0" b="1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均方误差（MSE）</a:t>
              </a:r>
            </a:p>
          </p:txBody>
        </p:sp>
        <p:sp>
          <p:nvSpPr>
            <p:cNvPr id="40" name="tx40"/>
            <p:cNvSpPr/>
            <p:nvPr/>
          </p:nvSpPr>
          <p:spPr>
            <a:xfrm>
              <a:off x="8124383" y="2827117"/>
              <a:ext cx="728685" cy="10917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1200" i="0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Batch Size</a:t>
              </a:r>
            </a:p>
          </p:txBody>
        </p:sp>
        <p:sp>
          <p:nvSpPr>
            <p:cNvPr id="41" name="pl41"/>
            <p:cNvSpPr/>
            <p:nvPr/>
          </p:nvSpPr>
          <p:spPr>
            <a:xfrm>
              <a:off x="8146329" y="3137942"/>
              <a:ext cx="175564" cy="0"/>
            </a:xfrm>
            <a:custGeom>
              <a:avLst/>
              <a:pathLst>
                <a:path w="175564" h="0">
                  <a:moveTo>
                    <a:pt x="0" y="0"/>
                  </a:moveTo>
                  <a:lnTo>
                    <a:pt x="175564" y="0"/>
                  </a:lnTo>
                </a:path>
              </a:pathLst>
            </a:custGeom>
            <a:ln w="27101" cap="flat">
              <a:solidFill>
                <a:srgbClr val="ED7D3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" name="pl42"/>
            <p:cNvSpPr/>
            <p:nvPr/>
          </p:nvSpPr>
          <p:spPr>
            <a:xfrm>
              <a:off x="8146329" y="3357398"/>
              <a:ext cx="175564" cy="0"/>
            </a:xfrm>
            <a:custGeom>
              <a:avLst/>
              <a:pathLst>
                <a:path w="175564" h="0">
                  <a:moveTo>
                    <a:pt x="0" y="0"/>
                  </a:moveTo>
                  <a:lnTo>
                    <a:pt x="175564" y="0"/>
                  </a:lnTo>
                </a:path>
              </a:pathLst>
            </a:custGeom>
            <a:ln w="27101" cap="flat">
              <a:solidFill>
                <a:srgbClr val="4472C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" name="pl43"/>
            <p:cNvSpPr/>
            <p:nvPr/>
          </p:nvSpPr>
          <p:spPr>
            <a:xfrm>
              <a:off x="8146329" y="3576854"/>
              <a:ext cx="175564" cy="0"/>
            </a:xfrm>
            <a:custGeom>
              <a:avLst/>
              <a:pathLst>
                <a:path w="175564" h="0">
                  <a:moveTo>
                    <a:pt x="0" y="0"/>
                  </a:moveTo>
                  <a:lnTo>
                    <a:pt x="175564" y="0"/>
                  </a:lnTo>
                </a:path>
              </a:pathLst>
            </a:custGeom>
            <a:ln w="27101" cap="flat">
              <a:solidFill>
                <a:srgbClr val="70AD4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" name="tx44"/>
            <p:cNvSpPr/>
            <p:nvPr/>
          </p:nvSpPr>
          <p:spPr>
            <a:xfrm>
              <a:off x="8419754" y="3094325"/>
              <a:ext cx="572414" cy="87233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960" i="0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batch=128</a:t>
              </a:r>
            </a:p>
          </p:txBody>
        </p:sp>
        <p:sp>
          <p:nvSpPr>
            <p:cNvPr id="45" name="tx45"/>
            <p:cNvSpPr/>
            <p:nvPr/>
          </p:nvSpPr>
          <p:spPr>
            <a:xfrm>
              <a:off x="8419754" y="3313781"/>
              <a:ext cx="504657" cy="87233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960" i="0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batch=32</a:t>
              </a:r>
            </a:p>
          </p:txBody>
        </p:sp>
        <p:sp>
          <p:nvSpPr>
            <p:cNvPr id="46" name="tx46"/>
            <p:cNvSpPr/>
            <p:nvPr/>
          </p:nvSpPr>
          <p:spPr>
            <a:xfrm>
              <a:off x="8419754" y="3533237"/>
              <a:ext cx="572414" cy="87233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960" i="0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batch=512</a:t>
              </a:r>
            </a:p>
          </p:txBody>
        </p:sp>
      </p:grp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 xmlns:pic="http://schemas.openxmlformats.org/drawingml/2006/picture">
        <p:nvGrpSpPr>
          <p:cNvPr id="2" name=""/>
          <p:cNvGrpSpPr/>
          <p:nvPr/>
        </p:nvGrpSpPr>
        <p:grpSpPr>
          <a:xfrm rot="0">
            <a:off x="0" y="0"/>
            <a:ext cx="9144000" cy="6858000"/>
            <a:chOff x="0" y="0"/>
            <a:chExt cx="9144000" cy="6858000"/>
          </a:xfrm>
        </p:grpSpPr>
        <p:sp>
          <p:nvSpPr>
            <p:cNvPr id="3" name="rc3"/>
            <p:cNvSpPr/>
            <p:nvPr/>
          </p:nvSpPr>
          <p:spPr>
            <a:xfrm>
              <a:off x="0" y="0"/>
              <a:ext cx="9144000" cy="6858000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  <a:ln w="9525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" name="rc4"/>
            <p:cNvSpPr/>
            <p:nvPr/>
          </p:nvSpPr>
          <p:spPr>
            <a:xfrm>
              <a:off x="0" y="0"/>
              <a:ext cx="9144000" cy="6858000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5" name="pl5"/>
            <p:cNvSpPr/>
            <p:nvPr/>
          </p:nvSpPr>
          <p:spPr>
            <a:xfrm>
              <a:off x="492727" y="6253521"/>
              <a:ext cx="7009334" cy="0"/>
            </a:xfrm>
            <a:custGeom>
              <a:avLst/>
              <a:pathLst>
                <a:path w="7009334" h="0">
                  <a:moveTo>
                    <a:pt x="0" y="0"/>
                  </a:moveTo>
                  <a:lnTo>
                    <a:pt x="7009334" y="0"/>
                  </a:lnTo>
                  <a:lnTo>
                    <a:pt x="7009334" y="0"/>
                  </a:lnTo>
                </a:path>
              </a:pathLst>
            </a:custGeom>
            <a:ln w="7391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" name="pl6"/>
            <p:cNvSpPr/>
            <p:nvPr/>
          </p:nvSpPr>
          <p:spPr>
            <a:xfrm>
              <a:off x="492727" y="5051652"/>
              <a:ext cx="7009334" cy="0"/>
            </a:xfrm>
            <a:custGeom>
              <a:avLst/>
              <a:pathLst>
                <a:path w="7009334" h="0">
                  <a:moveTo>
                    <a:pt x="0" y="0"/>
                  </a:moveTo>
                  <a:lnTo>
                    <a:pt x="7009334" y="0"/>
                  </a:lnTo>
                  <a:lnTo>
                    <a:pt x="7009334" y="0"/>
                  </a:lnTo>
                </a:path>
              </a:pathLst>
            </a:custGeom>
            <a:ln w="7391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" name="pl7"/>
            <p:cNvSpPr/>
            <p:nvPr/>
          </p:nvSpPr>
          <p:spPr>
            <a:xfrm>
              <a:off x="492727" y="3849783"/>
              <a:ext cx="7009334" cy="0"/>
            </a:xfrm>
            <a:custGeom>
              <a:avLst/>
              <a:pathLst>
                <a:path w="7009334" h="0">
                  <a:moveTo>
                    <a:pt x="0" y="0"/>
                  </a:moveTo>
                  <a:lnTo>
                    <a:pt x="7009334" y="0"/>
                  </a:lnTo>
                  <a:lnTo>
                    <a:pt x="7009334" y="0"/>
                  </a:lnTo>
                </a:path>
              </a:pathLst>
            </a:custGeom>
            <a:ln w="7391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" name="pl8"/>
            <p:cNvSpPr/>
            <p:nvPr/>
          </p:nvSpPr>
          <p:spPr>
            <a:xfrm>
              <a:off x="492727" y="2647914"/>
              <a:ext cx="7009334" cy="0"/>
            </a:xfrm>
            <a:custGeom>
              <a:avLst/>
              <a:pathLst>
                <a:path w="7009334" h="0">
                  <a:moveTo>
                    <a:pt x="0" y="0"/>
                  </a:moveTo>
                  <a:lnTo>
                    <a:pt x="7009334" y="0"/>
                  </a:lnTo>
                  <a:lnTo>
                    <a:pt x="7009334" y="0"/>
                  </a:lnTo>
                </a:path>
              </a:pathLst>
            </a:custGeom>
            <a:ln w="7391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" name="pl9"/>
            <p:cNvSpPr/>
            <p:nvPr/>
          </p:nvSpPr>
          <p:spPr>
            <a:xfrm>
              <a:off x="492727" y="1446045"/>
              <a:ext cx="7009334" cy="0"/>
            </a:xfrm>
            <a:custGeom>
              <a:avLst/>
              <a:pathLst>
                <a:path w="7009334" h="0">
                  <a:moveTo>
                    <a:pt x="0" y="0"/>
                  </a:moveTo>
                  <a:lnTo>
                    <a:pt x="7009334" y="0"/>
                  </a:lnTo>
                  <a:lnTo>
                    <a:pt x="7009334" y="0"/>
                  </a:lnTo>
                </a:path>
              </a:pathLst>
            </a:custGeom>
            <a:ln w="7391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" name="pl10"/>
            <p:cNvSpPr/>
            <p:nvPr/>
          </p:nvSpPr>
          <p:spPr>
            <a:xfrm>
              <a:off x="492727" y="244176"/>
              <a:ext cx="7009334" cy="0"/>
            </a:xfrm>
            <a:custGeom>
              <a:avLst/>
              <a:pathLst>
                <a:path w="7009334" h="0">
                  <a:moveTo>
                    <a:pt x="0" y="0"/>
                  </a:moveTo>
                  <a:lnTo>
                    <a:pt x="7009334" y="0"/>
                  </a:lnTo>
                  <a:lnTo>
                    <a:pt x="7009334" y="0"/>
                  </a:lnTo>
                </a:path>
              </a:pathLst>
            </a:custGeom>
            <a:ln w="7391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" name="pl11"/>
            <p:cNvSpPr/>
            <p:nvPr/>
          </p:nvSpPr>
          <p:spPr>
            <a:xfrm>
              <a:off x="811333" y="75915"/>
              <a:ext cx="0" cy="6345867"/>
            </a:xfrm>
            <a:custGeom>
              <a:avLst/>
              <a:pathLst>
                <a:path w="0" h="6345867">
                  <a:moveTo>
                    <a:pt x="0" y="6345867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7391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" name="pl12"/>
            <p:cNvSpPr/>
            <p:nvPr/>
          </p:nvSpPr>
          <p:spPr>
            <a:xfrm>
              <a:off x="2085757" y="75915"/>
              <a:ext cx="0" cy="6345867"/>
            </a:xfrm>
            <a:custGeom>
              <a:avLst/>
              <a:pathLst>
                <a:path w="0" h="6345867">
                  <a:moveTo>
                    <a:pt x="0" y="6345867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7391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" name="pl13"/>
            <p:cNvSpPr/>
            <p:nvPr/>
          </p:nvSpPr>
          <p:spPr>
            <a:xfrm>
              <a:off x="3360182" y="75915"/>
              <a:ext cx="0" cy="6345867"/>
            </a:xfrm>
            <a:custGeom>
              <a:avLst/>
              <a:pathLst>
                <a:path w="0" h="6345867">
                  <a:moveTo>
                    <a:pt x="0" y="6345867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7391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" name="pl14"/>
            <p:cNvSpPr/>
            <p:nvPr/>
          </p:nvSpPr>
          <p:spPr>
            <a:xfrm>
              <a:off x="4634606" y="75915"/>
              <a:ext cx="0" cy="6345867"/>
            </a:xfrm>
            <a:custGeom>
              <a:avLst/>
              <a:pathLst>
                <a:path w="0" h="6345867">
                  <a:moveTo>
                    <a:pt x="0" y="6345867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7391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" name="pl15"/>
            <p:cNvSpPr/>
            <p:nvPr/>
          </p:nvSpPr>
          <p:spPr>
            <a:xfrm>
              <a:off x="5909031" y="75915"/>
              <a:ext cx="0" cy="6345867"/>
            </a:xfrm>
            <a:custGeom>
              <a:avLst/>
              <a:pathLst>
                <a:path w="0" h="6345867">
                  <a:moveTo>
                    <a:pt x="0" y="6345867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7391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" name="pl16"/>
            <p:cNvSpPr/>
            <p:nvPr/>
          </p:nvSpPr>
          <p:spPr>
            <a:xfrm>
              <a:off x="7183455" y="75915"/>
              <a:ext cx="0" cy="6345867"/>
            </a:xfrm>
            <a:custGeom>
              <a:avLst/>
              <a:pathLst>
                <a:path w="0" h="6345867">
                  <a:moveTo>
                    <a:pt x="0" y="6345867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7391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" name="pl17"/>
            <p:cNvSpPr/>
            <p:nvPr/>
          </p:nvSpPr>
          <p:spPr>
            <a:xfrm>
              <a:off x="492727" y="5652586"/>
              <a:ext cx="7009334" cy="0"/>
            </a:xfrm>
            <a:custGeom>
              <a:avLst/>
              <a:pathLst>
                <a:path w="7009334" h="0">
                  <a:moveTo>
                    <a:pt x="0" y="0"/>
                  </a:moveTo>
                  <a:lnTo>
                    <a:pt x="7009334" y="0"/>
                  </a:lnTo>
                  <a:lnTo>
                    <a:pt x="7009334" y="0"/>
                  </a:lnTo>
                </a:path>
              </a:pathLst>
            </a:custGeom>
            <a:ln w="14782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" name="pl18"/>
            <p:cNvSpPr/>
            <p:nvPr/>
          </p:nvSpPr>
          <p:spPr>
            <a:xfrm>
              <a:off x="492727" y="4450717"/>
              <a:ext cx="7009334" cy="0"/>
            </a:xfrm>
            <a:custGeom>
              <a:avLst/>
              <a:pathLst>
                <a:path w="7009334" h="0">
                  <a:moveTo>
                    <a:pt x="0" y="0"/>
                  </a:moveTo>
                  <a:lnTo>
                    <a:pt x="7009334" y="0"/>
                  </a:lnTo>
                  <a:lnTo>
                    <a:pt x="7009334" y="0"/>
                  </a:lnTo>
                </a:path>
              </a:pathLst>
            </a:custGeom>
            <a:ln w="14782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" name="pl19"/>
            <p:cNvSpPr/>
            <p:nvPr/>
          </p:nvSpPr>
          <p:spPr>
            <a:xfrm>
              <a:off x="492727" y="3248849"/>
              <a:ext cx="7009334" cy="0"/>
            </a:xfrm>
            <a:custGeom>
              <a:avLst/>
              <a:pathLst>
                <a:path w="7009334" h="0">
                  <a:moveTo>
                    <a:pt x="0" y="0"/>
                  </a:moveTo>
                  <a:lnTo>
                    <a:pt x="7009334" y="0"/>
                  </a:lnTo>
                  <a:lnTo>
                    <a:pt x="7009334" y="0"/>
                  </a:lnTo>
                </a:path>
              </a:pathLst>
            </a:custGeom>
            <a:ln w="14782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" name="pl20"/>
            <p:cNvSpPr/>
            <p:nvPr/>
          </p:nvSpPr>
          <p:spPr>
            <a:xfrm>
              <a:off x="492727" y="2046980"/>
              <a:ext cx="7009334" cy="0"/>
            </a:xfrm>
            <a:custGeom>
              <a:avLst/>
              <a:pathLst>
                <a:path w="7009334" h="0">
                  <a:moveTo>
                    <a:pt x="0" y="0"/>
                  </a:moveTo>
                  <a:lnTo>
                    <a:pt x="7009334" y="0"/>
                  </a:lnTo>
                  <a:lnTo>
                    <a:pt x="7009334" y="0"/>
                  </a:lnTo>
                </a:path>
              </a:pathLst>
            </a:custGeom>
            <a:ln w="14782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" name="pl21"/>
            <p:cNvSpPr/>
            <p:nvPr/>
          </p:nvSpPr>
          <p:spPr>
            <a:xfrm>
              <a:off x="492727" y="845111"/>
              <a:ext cx="7009334" cy="0"/>
            </a:xfrm>
            <a:custGeom>
              <a:avLst/>
              <a:pathLst>
                <a:path w="7009334" h="0">
                  <a:moveTo>
                    <a:pt x="0" y="0"/>
                  </a:moveTo>
                  <a:lnTo>
                    <a:pt x="7009334" y="0"/>
                  </a:lnTo>
                  <a:lnTo>
                    <a:pt x="7009334" y="0"/>
                  </a:lnTo>
                </a:path>
              </a:pathLst>
            </a:custGeom>
            <a:ln w="14782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" name="pl22"/>
            <p:cNvSpPr/>
            <p:nvPr/>
          </p:nvSpPr>
          <p:spPr>
            <a:xfrm>
              <a:off x="1448545" y="75915"/>
              <a:ext cx="0" cy="6345867"/>
            </a:xfrm>
            <a:custGeom>
              <a:avLst/>
              <a:pathLst>
                <a:path w="0" h="6345867">
                  <a:moveTo>
                    <a:pt x="0" y="6345867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4782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" name="pl23"/>
            <p:cNvSpPr/>
            <p:nvPr/>
          </p:nvSpPr>
          <p:spPr>
            <a:xfrm>
              <a:off x="2722969" y="75915"/>
              <a:ext cx="0" cy="6345867"/>
            </a:xfrm>
            <a:custGeom>
              <a:avLst/>
              <a:pathLst>
                <a:path w="0" h="6345867">
                  <a:moveTo>
                    <a:pt x="0" y="6345867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4782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" name="pl24"/>
            <p:cNvSpPr/>
            <p:nvPr/>
          </p:nvSpPr>
          <p:spPr>
            <a:xfrm>
              <a:off x="3997394" y="75915"/>
              <a:ext cx="0" cy="6345867"/>
            </a:xfrm>
            <a:custGeom>
              <a:avLst/>
              <a:pathLst>
                <a:path w="0" h="6345867">
                  <a:moveTo>
                    <a:pt x="0" y="6345867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4782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" name="pl25"/>
            <p:cNvSpPr/>
            <p:nvPr/>
          </p:nvSpPr>
          <p:spPr>
            <a:xfrm>
              <a:off x="5271818" y="75915"/>
              <a:ext cx="0" cy="6345867"/>
            </a:xfrm>
            <a:custGeom>
              <a:avLst/>
              <a:pathLst>
                <a:path w="0" h="6345867">
                  <a:moveTo>
                    <a:pt x="0" y="6345867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4782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" name="pl26"/>
            <p:cNvSpPr/>
            <p:nvPr/>
          </p:nvSpPr>
          <p:spPr>
            <a:xfrm>
              <a:off x="6546243" y="75915"/>
              <a:ext cx="0" cy="6345867"/>
            </a:xfrm>
            <a:custGeom>
              <a:avLst/>
              <a:pathLst>
                <a:path w="0" h="6345867">
                  <a:moveTo>
                    <a:pt x="0" y="6345867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4782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" name="pt27"/>
            <p:cNvSpPr/>
            <p:nvPr/>
          </p:nvSpPr>
          <p:spPr>
            <a:xfrm>
              <a:off x="5180794" y="5590887"/>
              <a:ext cx="182049" cy="182049"/>
            </a:xfrm>
            <a:prstGeom prst="ellipse">
              <a:avLst/>
            </a:prstGeom>
            <a:solidFill>
              <a:srgbClr val="4472C4">
                <a:alpha val="69803"/>
              </a:srgbClr>
            </a:solidFill>
            <a:ln w="9818" cap="rnd">
              <a:solidFill>
                <a:srgbClr val="4472C4">
                  <a:alpha val="6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" name="pt28"/>
            <p:cNvSpPr/>
            <p:nvPr/>
          </p:nvSpPr>
          <p:spPr>
            <a:xfrm>
              <a:off x="2650307" y="5601317"/>
              <a:ext cx="145324" cy="145324"/>
            </a:xfrm>
            <a:prstGeom prst="ellipse">
              <a:avLst/>
            </a:prstGeom>
            <a:solidFill>
              <a:srgbClr val="ED7D31">
                <a:alpha val="69803"/>
              </a:srgbClr>
            </a:solidFill>
            <a:ln w="9818" cap="rnd">
              <a:solidFill>
                <a:srgbClr val="ED7D31">
                  <a:alpha val="6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" name="pt29"/>
            <p:cNvSpPr/>
            <p:nvPr/>
          </p:nvSpPr>
          <p:spPr>
            <a:xfrm>
              <a:off x="1365281" y="5578457"/>
              <a:ext cx="166527" cy="166527"/>
            </a:xfrm>
            <a:prstGeom prst="ellipse">
              <a:avLst/>
            </a:prstGeom>
            <a:solidFill>
              <a:srgbClr val="A5A5A5">
                <a:alpha val="69803"/>
              </a:srgbClr>
            </a:solidFill>
            <a:ln w="9818" cap="rnd">
              <a:solidFill>
                <a:srgbClr val="A5A5A5">
                  <a:alpha val="6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" name="pt30"/>
            <p:cNvSpPr/>
            <p:nvPr/>
          </p:nvSpPr>
          <p:spPr>
            <a:xfrm>
              <a:off x="2379295" y="5318046"/>
              <a:ext cx="687349" cy="687349"/>
            </a:xfrm>
            <a:prstGeom prst="ellipse">
              <a:avLst/>
            </a:prstGeom>
            <a:solidFill>
              <a:srgbClr val="FFC000">
                <a:alpha val="69803"/>
              </a:srgbClr>
            </a:solidFill>
            <a:ln w="9818" cap="rnd">
              <a:solidFill>
                <a:srgbClr val="FFC000">
                  <a:alpha val="6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" name="pt31"/>
            <p:cNvSpPr/>
            <p:nvPr/>
          </p:nvSpPr>
          <p:spPr>
            <a:xfrm>
              <a:off x="3785090" y="4523977"/>
              <a:ext cx="424608" cy="424608"/>
            </a:xfrm>
            <a:prstGeom prst="ellipse">
              <a:avLst/>
            </a:prstGeom>
            <a:solidFill>
              <a:srgbClr val="5B9BD5">
                <a:alpha val="69803"/>
              </a:srgbClr>
            </a:solidFill>
            <a:ln w="9818" cap="rnd">
              <a:solidFill>
                <a:srgbClr val="5B9BD5">
                  <a:alpha val="6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" name="pt32"/>
            <p:cNvSpPr/>
            <p:nvPr/>
          </p:nvSpPr>
          <p:spPr>
            <a:xfrm>
              <a:off x="6245834" y="963433"/>
              <a:ext cx="600818" cy="600818"/>
            </a:xfrm>
            <a:prstGeom prst="ellipse">
              <a:avLst/>
            </a:prstGeom>
            <a:solidFill>
              <a:srgbClr val="70AD47">
                <a:alpha val="69803"/>
              </a:srgbClr>
            </a:solidFill>
            <a:ln w="9818" cap="rnd">
              <a:solidFill>
                <a:srgbClr val="70AD47">
                  <a:alpha val="6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" name="tx33"/>
            <p:cNvSpPr/>
            <p:nvPr/>
          </p:nvSpPr>
          <p:spPr>
            <a:xfrm>
              <a:off x="5103294" y="5475075"/>
              <a:ext cx="337047" cy="10341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1138" i="0" b="1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GAM</a:t>
              </a:r>
            </a:p>
          </p:txBody>
        </p:sp>
        <p:sp>
          <p:nvSpPr>
            <p:cNvPr id="34" name="tx34"/>
            <p:cNvSpPr/>
            <p:nvPr/>
          </p:nvSpPr>
          <p:spPr>
            <a:xfrm>
              <a:off x="2560435" y="5467142"/>
              <a:ext cx="325069" cy="10341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1138" i="0" b="1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多项式</a:t>
              </a:r>
            </a:p>
          </p:txBody>
        </p:sp>
        <p:sp>
          <p:nvSpPr>
            <p:cNvPr id="35" name="tx35"/>
            <p:cNvSpPr/>
            <p:nvPr/>
          </p:nvSpPr>
          <p:spPr>
            <a:xfrm>
              <a:off x="1300046" y="5454883"/>
              <a:ext cx="296997" cy="10341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1138" i="0" b="1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OLS</a:t>
              </a:r>
            </a:p>
          </p:txBody>
        </p:sp>
        <p:sp>
          <p:nvSpPr>
            <p:cNvPr id="36" name="tx36"/>
            <p:cNvSpPr/>
            <p:nvPr/>
          </p:nvSpPr>
          <p:spPr>
            <a:xfrm>
              <a:off x="3780681" y="4529444"/>
              <a:ext cx="433425" cy="10341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1138" i="0" b="1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部分线性</a:t>
              </a:r>
            </a:p>
          </p:txBody>
        </p:sp>
        <p:sp>
          <p:nvSpPr>
            <p:cNvPr id="37" name="tx37"/>
            <p:cNvSpPr/>
            <p:nvPr/>
          </p:nvSpPr>
          <p:spPr>
            <a:xfrm>
              <a:off x="6383708" y="1057005"/>
              <a:ext cx="325069" cy="10341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1138" i="0" b="1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核回归</a:t>
              </a:r>
            </a:p>
          </p:txBody>
        </p:sp>
        <p:sp>
          <p:nvSpPr>
            <p:cNvPr id="38" name="tx38"/>
            <p:cNvSpPr/>
            <p:nvPr/>
          </p:nvSpPr>
          <p:spPr>
            <a:xfrm>
              <a:off x="255056" y="5608969"/>
              <a:ext cx="169346" cy="87233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960" i="0" b="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1.0</a:t>
              </a:r>
            </a:p>
          </p:txBody>
        </p:sp>
        <p:sp>
          <p:nvSpPr>
            <p:cNvPr id="39" name="tx39"/>
            <p:cNvSpPr/>
            <p:nvPr/>
          </p:nvSpPr>
          <p:spPr>
            <a:xfrm>
              <a:off x="255056" y="4407101"/>
              <a:ext cx="169346" cy="87233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960" i="0" b="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1.5</a:t>
              </a:r>
            </a:p>
          </p:txBody>
        </p:sp>
        <p:sp>
          <p:nvSpPr>
            <p:cNvPr id="40" name="tx40"/>
            <p:cNvSpPr/>
            <p:nvPr/>
          </p:nvSpPr>
          <p:spPr>
            <a:xfrm>
              <a:off x="255056" y="3205232"/>
              <a:ext cx="169346" cy="87233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960" i="0" b="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2.0</a:t>
              </a:r>
            </a:p>
          </p:txBody>
        </p:sp>
        <p:sp>
          <p:nvSpPr>
            <p:cNvPr id="41" name="tx41"/>
            <p:cNvSpPr/>
            <p:nvPr/>
          </p:nvSpPr>
          <p:spPr>
            <a:xfrm>
              <a:off x="255056" y="2003363"/>
              <a:ext cx="169346" cy="87233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960" i="0" b="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2.5</a:t>
              </a:r>
            </a:p>
          </p:txBody>
        </p:sp>
        <p:sp>
          <p:nvSpPr>
            <p:cNvPr id="42" name="tx42"/>
            <p:cNvSpPr/>
            <p:nvPr/>
          </p:nvSpPr>
          <p:spPr>
            <a:xfrm>
              <a:off x="255056" y="801494"/>
              <a:ext cx="169346" cy="87233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960" i="0" b="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3.0</a:t>
              </a:r>
            </a:p>
          </p:txBody>
        </p:sp>
        <p:sp>
          <p:nvSpPr>
            <p:cNvPr id="43" name="tx43"/>
            <p:cNvSpPr/>
            <p:nvPr/>
          </p:nvSpPr>
          <p:spPr>
            <a:xfrm>
              <a:off x="1414666" y="6490106"/>
              <a:ext cx="67757" cy="87233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960" i="0" b="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1</a:t>
              </a:r>
            </a:p>
          </p:txBody>
        </p:sp>
        <p:sp>
          <p:nvSpPr>
            <p:cNvPr id="44" name="tx44"/>
            <p:cNvSpPr/>
            <p:nvPr/>
          </p:nvSpPr>
          <p:spPr>
            <a:xfrm>
              <a:off x="2689091" y="6490106"/>
              <a:ext cx="67757" cy="87233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960" i="0" b="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2</a:t>
              </a:r>
            </a:p>
          </p:txBody>
        </p:sp>
        <p:sp>
          <p:nvSpPr>
            <p:cNvPr id="45" name="tx45"/>
            <p:cNvSpPr/>
            <p:nvPr/>
          </p:nvSpPr>
          <p:spPr>
            <a:xfrm>
              <a:off x="3963515" y="6490106"/>
              <a:ext cx="67757" cy="87233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960" i="0" b="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3</a:t>
              </a:r>
            </a:p>
          </p:txBody>
        </p:sp>
        <p:sp>
          <p:nvSpPr>
            <p:cNvPr id="46" name="tx46"/>
            <p:cNvSpPr/>
            <p:nvPr/>
          </p:nvSpPr>
          <p:spPr>
            <a:xfrm>
              <a:off x="5237940" y="6490106"/>
              <a:ext cx="67757" cy="87233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960" i="0" b="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4</a:t>
              </a:r>
            </a:p>
          </p:txBody>
        </p:sp>
        <p:sp>
          <p:nvSpPr>
            <p:cNvPr id="47" name="tx47"/>
            <p:cNvSpPr/>
            <p:nvPr/>
          </p:nvSpPr>
          <p:spPr>
            <a:xfrm>
              <a:off x="6512364" y="6490106"/>
              <a:ext cx="67757" cy="87233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960" i="0" b="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5</a:t>
              </a:r>
            </a:p>
          </p:txBody>
        </p:sp>
        <p:sp>
          <p:nvSpPr>
            <p:cNvPr id="48" name="tx48"/>
            <p:cNvSpPr/>
            <p:nvPr/>
          </p:nvSpPr>
          <p:spPr>
            <a:xfrm>
              <a:off x="3711644" y="6640901"/>
              <a:ext cx="571500" cy="10917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1200" i="0" b="1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模型复杂度</a:t>
              </a:r>
            </a:p>
          </p:txBody>
        </p:sp>
        <p:sp>
          <p:nvSpPr>
            <p:cNvPr id="49" name="tx49"/>
            <p:cNvSpPr/>
            <p:nvPr/>
          </p:nvSpPr>
          <p:spPr>
            <a:xfrm rot="-5400000">
              <a:off x="-377581" y="3194259"/>
              <a:ext cx="1016172" cy="10917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1200" i="0" b="1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均方误差（MSE）</a:t>
              </a:r>
            </a:p>
          </p:txBody>
        </p:sp>
        <p:sp>
          <p:nvSpPr>
            <p:cNvPr id="50" name="tx50"/>
            <p:cNvSpPr/>
            <p:nvPr/>
          </p:nvSpPr>
          <p:spPr>
            <a:xfrm>
              <a:off x="7729807" y="476983"/>
              <a:ext cx="457200" cy="10917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1200" i="0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计算时间</a:t>
              </a:r>
            </a:p>
          </p:txBody>
        </p:sp>
        <p:sp>
          <p:nvSpPr>
            <p:cNvPr id="51" name="pt51"/>
            <p:cNvSpPr/>
            <p:nvPr/>
          </p:nvSpPr>
          <p:spPr>
            <a:xfrm>
              <a:off x="7981563" y="733630"/>
              <a:ext cx="378074" cy="378074"/>
            </a:xfrm>
            <a:prstGeom prst="ellipse">
              <a:avLst/>
            </a:prstGeom>
            <a:solidFill>
              <a:srgbClr val="000000">
                <a:alpha val="69803"/>
              </a:srgbClr>
            </a:solidFill>
            <a:ln w="9818" cap="rnd">
              <a:solidFill>
                <a:srgbClr val="000000">
                  <a:alpha val="6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" name="pt52"/>
            <p:cNvSpPr/>
            <p:nvPr/>
          </p:nvSpPr>
          <p:spPr>
            <a:xfrm>
              <a:off x="7931829" y="1239134"/>
              <a:ext cx="477541" cy="477541"/>
            </a:xfrm>
            <a:prstGeom prst="ellipse">
              <a:avLst/>
            </a:prstGeom>
            <a:solidFill>
              <a:srgbClr val="000000">
                <a:alpha val="69803"/>
              </a:srgbClr>
            </a:solidFill>
            <a:ln w="9818" cap="rnd">
              <a:solidFill>
                <a:srgbClr val="000000">
                  <a:alpha val="6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" name="pt53"/>
            <p:cNvSpPr/>
            <p:nvPr/>
          </p:nvSpPr>
          <p:spPr>
            <a:xfrm>
              <a:off x="7893876" y="1872898"/>
              <a:ext cx="553447" cy="553447"/>
            </a:xfrm>
            <a:prstGeom prst="ellipse">
              <a:avLst/>
            </a:prstGeom>
            <a:solidFill>
              <a:srgbClr val="000000">
                <a:alpha val="69803"/>
              </a:srgbClr>
            </a:solidFill>
            <a:ln w="9818" cap="rnd">
              <a:solidFill>
                <a:srgbClr val="000000">
                  <a:alpha val="6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" name="pt54"/>
            <p:cNvSpPr/>
            <p:nvPr/>
          </p:nvSpPr>
          <p:spPr>
            <a:xfrm>
              <a:off x="7861950" y="2605511"/>
              <a:ext cx="617298" cy="617298"/>
            </a:xfrm>
            <a:prstGeom prst="ellipse">
              <a:avLst/>
            </a:prstGeom>
            <a:solidFill>
              <a:srgbClr val="000000">
                <a:alpha val="69803"/>
              </a:srgbClr>
            </a:solidFill>
            <a:ln w="9818" cap="rnd">
              <a:solidFill>
                <a:srgbClr val="000000">
                  <a:alpha val="6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" name="pt55"/>
            <p:cNvSpPr/>
            <p:nvPr/>
          </p:nvSpPr>
          <p:spPr>
            <a:xfrm>
              <a:off x="7833856" y="3421684"/>
              <a:ext cx="673486" cy="673486"/>
            </a:xfrm>
            <a:prstGeom prst="ellipse">
              <a:avLst/>
            </a:prstGeom>
            <a:solidFill>
              <a:srgbClr val="000000">
                <a:alpha val="69803"/>
              </a:srgbClr>
            </a:solidFill>
            <a:ln w="9818" cap="rnd">
              <a:solidFill>
                <a:srgbClr val="000000">
                  <a:alpha val="6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" name="tx56"/>
            <p:cNvSpPr/>
            <p:nvPr/>
          </p:nvSpPr>
          <p:spPr>
            <a:xfrm>
              <a:off x="8687308" y="879050"/>
              <a:ext cx="304860" cy="87233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960" i="0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0.025</a:t>
              </a:r>
            </a:p>
          </p:txBody>
        </p:sp>
        <p:sp>
          <p:nvSpPr>
            <p:cNvPr id="57" name="tx57"/>
            <p:cNvSpPr/>
            <p:nvPr/>
          </p:nvSpPr>
          <p:spPr>
            <a:xfrm>
              <a:off x="8687308" y="1434288"/>
              <a:ext cx="304860" cy="87233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960" i="0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0.050</a:t>
              </a:r>
            </a:p>
          </p:txBody>
        </p:sp>
        <p:sp>
          <p:nvSpPr>
            <p:cNvPr id="58" name="tx58"/>
            <p:cNvSpPr/>
            <p:nvPr/>
          </p:nvSpPr>
          <p:spPr>
            <a:xfrm>
              <a:off x="8687308" y="2106004"/>
              <a:ext cx="304860" cy="87233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960" i="0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0.075</a:t>
              </a:r>
            </a:p>
          </p:txBody>
        </p:sp>
        <p:sp>
          <p:nvSpPr>
            <p:cNvPr id="59" name="tx59"/>
            <p:cNvSpPr/>
            <p:nvPr/>
          </p:nvSpPr>
          <p:spPr>
            <a:xfrm>
              <a:off x="8687308" y="2870543"/>
              <a:ext cx="304860" cy="87233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960" i="0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0.100</a:t>
              </a:r>
            </a:p>
          </p:txBody>
        </p:sp>
        <p:sp>
          <p:nvSpPr>
            <p:cNvPr id="60" name="tx60"/>
            <p:cNvSpPr/>
            <p:nvPr/>
          </p:nvSpPr>
          <p:spPr>
            <a:xfrm>
              <a:off x="8687308" y="3714810"/>
              <a:ext cx="304860" cy="87233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960" i="0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0.125</a:t>
              </a:r>
            </a:p>
          </p:txBody>
        </p:sp>
        <p:sp>
          <p:nvSpPr>
            <p:cNvPr id="61" name="tx61"/>
            <p:cNvSpPr/>
            <p:nvPr/>
          </p:nvSpPr>
          <p:spPr>
            <a:xfrm>
              <a:off x="7729807" y="4518883"/>
              <a:ext cx="228600" cy="10917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1200" i="0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模型</a:t>
              </a:r>
            </a:p>
          </p:txBody>
        </p:sp>
        <p:sp>
          <p:nvSpPr>
            <p:cNvPr id="62" name="pt62"/>
            <p:cNvSpPr/>
            <p:nvPr/>
          </p:nvSpPr>
          <p:spPr>
            <a:xfrm>
              <a:off x="7812452" y="4802625"/>
              <a:ext cx="54165" cy="54165"/>
            </a:xfrm>
            <a:prstGeom prst="ellipse">
              <a:avLst/>
            </a:prstGeom>
            <a:solidFill>
              <a:srgbClr val="4472C4">
                <a:alpha val="69803"/>
              </a:srgbClr>
            </a:solidFill>
            <a:ln w="9818" cap="rnd">
              <a:solidFill>
                <a:srgbClr val="4472C4">
                  <a:alpha val="6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" name="pt63"/>
            <p:cNvSpPr/>
            <p:nvPr/>
          </p:nvSpPr>
          <p:spPr>
            <a:xfrm>
              <a:off x="7812452" y="5022081"/>
              <a:ext cx="54165" cy="54165"/>
            </a:xfrm>
            <a:prstGeom prst="ellipse">
              <a:avLst/>
            </a:prstGeom>
            <a:solidFill>
              <a:srgbClr val="A5A5A5">
                <a:alpha val="69803"/>
              </a:srgbClr>
            </a:solidFill>
            <a:ln w="9818" cap="rnd">
              <a:solidFill>
                <a:srgbClr val="A5A5A5">
                  <a:alpha val="6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" name="pt64"/>
            <p:cNvSpPr/>
            <p:nvPr/>
          </p:nvSpPr>
          <p:spPr>
            <a:xfrm>
              <a:off x="7812452" y="5241537"/>
              <a:ext cx="54165" cy="54165"/>
            </a:xfrm>
            <a:prstGeom prst="ellipse">
              <a:avLst/>
            </a:prstGeom>
            <a:solidFill>
              <a:srgbClr val="5B9BD5">
                <a:alpha val="69803"/>
              </a:srgbClr>
            </a:solidFill>
            <a:ln w="9818" cap="rnd">
              <a:solidFill>
                <a:srgbClr val="5B9BD5">
                  <a:alpha val="6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" name="pt65"/>
            <p:cNvSpPr/>
            <p:nvPr/>
          </p:nvSpPr>
          <p:spPr>
            <a:xfrm>
              <a:off x="7812452" y="5460993"/>
              <a:ext cx="54165" cy="54165"/>
            </a:xfrm>
            <a:prstGeom prst="ellipse">
              <a:avLst/>
            </a:prstGeom>
            <a:solidFill>
              <a:srgbClr val="ED7D31">
                <a:alpha val="69803"/>
              </a:srgbClr>
            </a:solidFill>
            <a:ln w="9818" cap="rnd">
              <a:solidFill>
                <a:srgbClr val="ED7D31">
                  <a:alpha val="6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" name="pt66"/>
            <p:cNvSpPr/>
            <p:nvPr/>
          </p:nvSpPr>
          <p:spPr>
            <a:xfrm>
              <a:off x="7812452" y="5680449"/>
              <a:ext cx="54165" cy="54165"/>
            </a:xfrm>
            <a:prstGeom prst="ellipse">
              <a:avLst/>
            </a:prstGeom>
            <a:solidFill>
              <a:srgbClr val="70AD47">
                <a:alpha val="69803"/>
              </a:srgbClr>
            </a:solidFill>
            <a:ln w="9818" cap="rnd">
              <a:solidFill>
                <a:srgbClr val="70AD47">
                  <a:alpha val="6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" name="pt67"/>
            <p:cNvSpPr/>
            <p:nvPr/>
          </p:nvSpPr>
          <p:spPr>
            <a:xfrm>
              <a:off x="7812452" y="5899905"/>
              <a:ext cx="54165" cy="54165"/>
            </a:xfrm>
            <a:prstGeom prst="ellipse">
              <a:avLst/>
            </a:prstGeom>
            <a:solidFill>
              <a:srgbClr val="FFC000">
                <a:alpha val="69803"/>
              </a:srgbClr>
            </a:solidFill>
            <a:ln w="9818" cap="rnd">
              <a:solidFill>
                <a:srgbClr val="FFC000">
                  <a:alpha val="6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" name="tx68"/>
            <p:cNvSpPr/>
            <p:nvPr/>
          </p:nvSpPr>
          <p:spPr>
            <a:xfrm>
              <a:off x="8025178" y="4786091"/>
              <a:ext cx="277428" cy="87233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960" i="0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GAM</a:t>
              </a:r>
            </a:p>
          </p:txBody>
        </p:sp>
        <p:sp>
          <p:nvSpPr>
            <p:cNvPr id="69" name="tx69"/>
            <p:cNvSpPr/>
            <p:nvPr/>
          </p:nvSpPr>
          <p:spPr>
            <a:xfrm>
              <a:off x="8025178" y="5005547"/>
              <a:ext cx="243687" cy="87233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960" i="0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OLS</a:t>
              </a:r>
            </a:p>
          </p:txBody>
        </p:sp>
        <p:sp>
          <p:nvSpPr>
            <p:cNvPr id="70" name="tx70"/>
            <p:cNvSpPr/>
            <p:nvPr/>
          </p:nvSpPr>
          <p:spPr>
            <a:xfrm>
              <a:off x="8025178" y="5225003"/>
              <a:ext cx="365394" cy="87233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960" i="0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部分线性</a:t>
              </a:r>
            </a:p>
          </p:txBody>
        </p:sp>
        <p:sp>
          <p:nvSpPr>
            <p:cNvPr id="71" name="tx71"/>
            <p:cNvSpPr/>
            <p:nvPr/>
          </p:nvSpPr>
          <p:spPr>
            <a:xfrm>
              <a:off x="8025178" y="5444459"/>
              <a:ext cx="274045" cy="87233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960" i="0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多项式</a:t>
              </a:r>
            </a:p>
          </p:txBody>
        </p:sp>
        <p:sp>
          <p:nvSpPr>
            <p:cNvPr id="72" name="tx72"/>
            <p:cNvSpPr/>
            <p:nvPr/>
          </p:nvSpPr>
          <p:spPr>
            <a:xfrm>
              <a:off x="8025178" y="5663915"/>
              <a:ext cx="274045" cy="87233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960" i="0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核回归</a:t>
              </a:r>
            </a:p>
          </p:txBody>
        </p:sp>
        <p:sp>
          <p:nvSpPr>
            <p:cNvPr id="73" name="tx73"/>
            <p:cNvSpPr/>
            <p:nvPr/>
          </p:nvSpPr>
          <p:spPr>
            <a:xfrm>
              <a:off x="8025178" y="5883371"/>
              <a:ext cx="274045" cy="87233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960" i="0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岭回归</a:t>
              </a:r>
            </a:p>
          </p:txBody>
        </p:sp>
      </p:grpSp>
    </p:spTree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AMO_UNIQUEIDENTIFIER" val="Empty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Macintosh PowerPoint</Application>
  <PresentationFormat>Présentation à l'écran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Thème</vt:lpstr>
      </vt:variant>
      <vt:variant>
        <vt:i4>1</vt:i4>
      </vt:variant>
      <vt:variant>
        <vt:lpstr>Titres des diapositives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mitype="http://purl.org/dc/dcmitype/" xmlns:dcterms="http://purl.org/dc/terms/" xmlns:xsi="http://www.w3.org/2001/XMLSchema-instance">
  <dc:title/>
  <dc:subject/>
  <dc:creator/>
  <cp:keywords/>
  <dc:description/>
  <cp:lastModifiedBy/>
  <cp:revision>3</cp:revision>
  <dcterms:created xsi:type="dcterms:W3CDTF">2017-02-13T16:18:36Z</dcterms:created>
  <dcterms:modified xsi:type="dcterms:W3CDTF">2026-04-14T17:56:28Z</dcterms:modified>
  <cp:category/>
</cp:coreProperties>
</file>